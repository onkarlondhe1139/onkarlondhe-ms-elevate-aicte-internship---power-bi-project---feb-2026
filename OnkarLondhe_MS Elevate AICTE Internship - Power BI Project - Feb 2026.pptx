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80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>
      <p:cViewPr varScale="1">
        <p:scale>
          <a:sx n="88" d="100"/>
          <a:sy n="88" d="100"/>
        </p:scale>
        <p:origin x="51" y="57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46772" cy="25703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IN" sz="5200" b="1" dirty="0">
                <a:latin typeface="+mn-lt"/>
              </a:rPr>
              <a:t>MakeMyTrip Travel Analytics </a:t>
            </a:r>
          </a:p>
          <a:p>
            <a:pPr algn="l"/>
            <a:r>
              <a:rPr lang="en-IN" sz="5200" b="1" dirty="0">
                <a:latin typeface="+mn-lt"/>
              </a:rPr>
              <a:t>Dashboard Using Power BI</a:t>
            </a:r>
            <a:endParaRPr lang="en-US" sz="5200" b="1" dirty="0">
              <a:latin typeface="+mn-lt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6" y="3739889"/>
            <a:ext cx="4021417" cy="23016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b="1" dirty="0"/>
              <a:t>Onkar Abhiman Londhe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b="1" cap="all" dirty="0" err="1"/>
              <a:t>s.b.</a:t>
            </a:r>
            <a:r>
              <a:rPr lang="en-US" sz="1600" b="1" cap="all" dirty="0"/>
              <a:t> P</a:t>
            </a:r>
            <a:r>
              <a:rPr lang="en-US" sz="1600" b="1" dirty="0"/>
              <a:t>atil </a:t>
            </a:r>
            <a:r>
              <a:rPr lang="en-IN" sz="1600" b="1" dirty="0"/>
              <a:t>college of Engineering Pune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IN" sz="1600" b="1" cap="all" dirty="0"/>
              <a:t>C</a:t>
            </a:r>
            <a:r>
              <a:rPr lang="en-IN" sz="1600" b="1" dirty="0"/>
              <a:t>omputer Engineering 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US" sz="1600" b="1" dirty="0"/>
              <a:t>onkarlondhe1139@gmail.com</a:t>
            </a:r>
            <a:endParaRPr lang="en-US" sz="1600" b="1" cap="al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3787" y="963029"/>
            <a:ext cx="4203189" cy="49364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  <a:r>
              <a:rPr lang="en-US" sz="2200" dirty="0">
                <a:latin typeface="Arial"/>
                <a:cs typeface="Arial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 </a:t>
            </a:r>
            <a:r>
              <a:rPr lang="en-US" sz="2200" dirty="0">
                <a:latin typeface="Arial"/>
                <a:cs typeface="Arial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(Output Image)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Problem Statement: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/>
              <a:t>The travel industry generates a huge amount of booking data every day.</a:t>
            </a:r>
            <a:br>
              <a:rPr lang="en-US" sz="2000" dirty="0"/>
            </a:br>
            <a:r>
              <a:rPr lang="en-US" sz="2000" dirty="0"/>
              <a:t>However, raw data stored in spreadsheets or databases is difficult to analyze quickly.</a:t>
            </a:r>
          </a:p>
          <a:p>
            <a:pPr lvl="1"/>
            <a:r>
              <a:rPr lang="en-US" sz="2000" dirty="0"/>
              <a:t>Difficulty in tracking </a:t>
            </a:r>
            <a:r>
              <a:rPr lang="en-US" sz="2000" b="1" dirty="0"/>
              <a:t>total bookings and revenue</a:t>
            </a:r>
            <a:endParaRPr lang="en-US" sz="2000" dirty="0"/>
          </a:p>
          <a:p>
            <a:pPr lvl="1"/>
            <a:r>
              <a:rPr lang="en-US" sz="2000" dirty="0"/>
              <a:t>Lack of clear insights into </a:t>
            </a:r>
            <a:r>
              <a:rPr lang="en-US" sz="2000" b="1" dirty="0"/>
              <a:t>popular destinations</a:t>
            </a:r>
            <a:endParaRPr lang="en-US" sz="2000" dirty="0"/>
          </a:p>
          <a:p>
            <a:pPr lvl="1"/>
            <a:r>
              <a:rPr lang="en-US" sz="2000" dirty="0"/>
              <a:t>Travel companies face the following problems:</a:t>
            </a:r>
          </a:p>
          <a:p>
            <a:pPr lvl="1"/>
            <a:r>
              <a:rPr lang="en-US" sz="2000" dirty="0"/>
              <a:t>Hard to analyze </a:t>
            </a:r>
            <a:r>
              <a:rPr lang="en-US" sz="2000" b="1" dirty="0"/>
              <a:t>customer demographics and travel patterns</a:t>
            </a:r>
            <a:endParaRPr lang="en-US" sz="2000" dirty="0"/>
          </a:p>
          <a:p>
            <a:pPr lvl="1"/>
            <a:r>
              <a:rPr lang="en-US" sz="2000" dirty="0"/>
              <a:t>No centralized platform to visualize </a:t>
            </a:r>
            <a:r>
              <a:rPr lang="en-US" sz="2000" b="1" dirty="0"/>
              <a:t>airline performance and booking channels</a:t>
            </a:r>
            <a:endParaRPr lang="en-US" sz="2000" dirty="0"/>
          </a:p>
          <a:p>
            <a:pPr lvl="1"/>
            <a:r>
              <a:rPr lang="en-US" sz="2000" dirty="0"/>
              <a:t>Decision makers need </a:t>
            </a:r>
            <a:r>
              <a:rPr lang="en-US" sz="2000" b="1" dirty="0"/>
              <a:t>quick and interactive insights</a:t>
            </a:r>
            <a:r>
              <a:rPr lang="en-US" sz="2000" dirty="0"/>
              <a:t> for better business strategies.</a:t>
            </a:r>
          </a:p>
          <a:p>
            <a:pPr lvl="1"/>
            <a:r>
              <a:rPr lang="en-US" sz="2000" dirty="0"/>
              <a:t>Therefore, a data visualization system is required to convert complex travel data into meaningful insights.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/>
              <a:t>The proposed system is a </a:t>
            </a:r>
            <a:r>
              <a:rPr lang="en-US" sz="2000" b="1" dirty="0"/>
              <a:t>Travel Analytics Dashboard built using Microsoft Power BI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The system collects travel booking data and converts it into </a:t>
            </a:r>
            <a:r>
              <a:rPr lang="en-US" sz="2000" b="1" dirty="0"/>
              <a:t>interactive visual reports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Key features of the system include:</a:t>
            </a:r>
          </a:p>
          <a:p>
            <a:pPr lvl="1"/>
            <a:r>
              <a:rPr lang="en-US" sz="2000" dirty="0"/>
              <a:t>Visualization of </a:t>
            </a:r>
            <a:r>
              <a:rPr lang="en-US" sz="2000" b="1" dirty="0"/>
              <a:t>Total Bookings, Revenue, and Average Booking Value</a:t>
            </a:r>
            <a:endParaRPr lang="en-US" sz="2000" dirty="0"/>
          </a:p>
          <a:p>
            <a:pPr lvl="1"/>
            <a:r>
              <a:rPr lang="en-US" sz="2000" dirty="0"/>
              <a:t>Analysis of </a:t>
            </a:r>
            <a:r>
              <a:rPr lang="en-US" sz="2000" b="1" dirty="0"/>
              <a:t>Top Travel Destinations</a:t>
            </a:r>
            <a:endParaRPr lang="en-US" sz="2000" dirty="0"/>
          </a:p>
          <a:p>
            <a:pPr lvl="1"/>
            <a:r>
              <a:rPr lang="en-US" sz="2000" dirty="0"/>
              <a:t>Identification of </a:t>
            </a:r>
            <a:r>
              <a:rPr lang="en-US" sz="2000" b="1" dirty="0"/>
              <a:t>Most Used Airlines</a:t>
            </a:r>
            <a:endParaRPr lang="en-US" sz="2000" dirty="0"/>
          </a:p>
          <a:p>
            <a:pPr lvl="1"/>
            <a:r>
              <a:rPr lang="en-US" sz="2000" dirty="0"/>
              <a:t>Visualization of </a:t>
            </a:r>
            <a:r>
              <a:rPr lang="en-US" sz="2000" b="1" dirty="0"/>
              <a:t>Traveler Demographics</a:t>
            </a:r>
            <a:endParaRPr lang="en-US" sz="2000" dirty="0"/>
          </a:p>
          <a:p>
            <a:pPr lvl="1"/>
            <a:r>
              <a:rPr lang="en-US" sz="2000" dirty="0"/>
              <a:t>Tracking of </a:t>
            </a:r>
            <a:r>
              <a:rPr lang="en-US" sz="2000" b="1" dirty="0"/>
              <a:t>Monthly Booking Trends</a:t>
            </a:r>
            <a:endParaRPr lang="en-US" sz="2000" dirty="0"/>
          </a:p>
          <a:p>
            <a:pPr lvl="1"/>
            <a:r>
              <a:rPr lang="en-US" sz="2000" dirty="0"/>
              <a:t>Geographic visualization of bookings through </a:t>
            </a:r>
            <a:r>
              <a:rPr lang="en-US" sz="2000" b="1" dirty="0"/>
              <a:t>India Heatmap</a:t>
            </a:r>
            <a:endParaRPr lang="en-US" sz="2000" dirty="0"/>
          </a:p>
          <a:p>
            <a:pPr lvl="1"/>
            <a:r>
              <a:rPr lang="en-US" sz="2000" dirty="0"/>
              <a:t>Interactive filters such as </a:t>
            </a:r>
            <a:r>
              <a:rPr lang="en-US" sz="2000" b="1" dirty="0"/>
              <a:t>Date Range, Destination, and Traveler Type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This dashboard helps business managers quickly understand travel trends and make data-driven decisions.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10" y="1333499"/>
            <a:ext cx="4191000" cy="470262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IN" sz="1600" dirty="0"/>
              <a:t>The system is developed using the following technologies:</a:t>
            </a:r>
          </a:p>
          <a:p>
            <a:pPr marL="0" indent="0">
              <a:buNone/>
            </a:pPr>
            <a:r>
              <a:rPr lang="en-IN" sz="1600" b="1" dirty="0"/>
              <a:t>1. Data Source</a:t>
            </a:r>
            <a:endParaRPr lang="en-IN" sz="1600" dirty="0"/>
          </a:p>
          <a:p>
            <a:pPr lvl="1"/>
            <a:r>
              <a:rPr lang="en-IN" sz="1200" dirty="0"/>
              <a:t>CSV dataset containing travel booking information</a:t>
            </a:r>
          </a:p>
          <a:p>
            <a:pPr marL="0" indent="0">
              <a:buNone/>
            </a:pPr>
            <a:r>
              <a:rPr lang="en-IN" sz="1600" b="1" dirty="0"/>
              <a:t>2. Data Processing Tool</a:t>
            </a:r>
            <a:endParaRPr lang="en-IN" sz="1600" dirty="0"/>
          </a:p>
          <a:p>
            <a:pPr lvl="1"/>
            <a:r>
              <a:rPr lang="en-IN" sz="1200" dirty="0"/>
              <a:t>Microsoft Power BI Desktop</a:t>
            </a:r>
          </a:p>
          <a:p>
            <a:pPr marL="0" indent="0">
              <a:buNone/>
            </a:pPr>
            <a:r>
              <a:rPr lang="en-IN" sz="1600" b="1" dirty="0"/>
              <a:t>3. Data Fields Used                                                               </a:t>
            </a:r>
            <a:endParaRPr lang="en-IN" sz="1600" dirty="0"/>
          </a:p>
          <a:p>
            <a:pPr lvl="1"/>
            <a:r>
              <a:rPr lang="en-IN" sz="1200" dirty="0"/>
              <a:t>Booking ID</a:t>
            </a:r>
          </a:p>
          <a:p>
            <a:pPr lvl="1"/>
            <a:r>
              <a:rPr lang="en-IN" sz="1200" dirty="0"/>
              <a:t>Booking Date</a:t>
            </a:r>
          </a:p>
          <a:p>
            <a:pPr lvl="1"/>
            <a:r>
              <a:rPr lang="en-IN" sz="1200" dirty="0"/>
              <a:t>Destination</a:t>
            </a:r>
          </a:p>
          <a:p>
            <a:pPr lvl="1"/>
            <a:r>
              <a:rPr lang="en-IN" sz="1200" dirty="0"/>
              <a:t>State</a:t>
            </a:r>
          </a:p>
          <a:p>
            <a:pPr lvl="1"/>
            <a:r>
              <a:rPr lang="en-IN" sz="1200" dirty="0"/>
              <a:t>Airline</a:t>
            </a:r>
          </a:p>
          <a:p>
            <a:pPr lvl="1"/>
            <a:r>
              <a:rPr lang="en-IN" sz="1200" dirty="0"/>
              <a:t>Traveler Type</a:t>
            </a:r>
          </a:p>
          <a:p>
            <a:pPr lvl="1"/>
            <a:r>
              <a:rPr lang="en-IN" sz="1200" dirty="0"/>
              <a:t>Booking Channel</a:t>
            </a:r>
          </a:p>
          <a:p>
            <a:pPr lvl="1"/>
            <a:r>
              <a:rPr lang="en-IN" sz="1200" dirty="0"/>
              <a:t>Booking Value</a:t>
            </a:r>
          </a:p>
          <a:p>
            <a:pPr lvl="1"/>
            <a:r>
              <a:rPr lang="en-IN" sz="1200" dirty="0"/>
              <a:t>Customer Rating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F250E-DA44-D454-630A-CFFCEA8E9A66}"/>
              </a:ext>
            </a:extLst>
          </p:cNvPr>
          <p:cNvSpPr txBox="1"/>
          <p:nvPr/>
        </p:nvSpPr>
        <p:spPr>
          <a:xfrm>
            <a:off x="277586" y="5312853"/>
            <a:ext cx="4191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4. Visualization Components</a:t>
            </a:r>
            <a:endParaRPr lang="en-IN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KPI Cards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Line Charts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Bar Charts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Pie Charts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Map Visualization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Slicers (Filters)</a:t>
            </a: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38943"/>
            <a:ext cx="10515600" cy="5339443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dirty="0"/>
              <a:t>The development of the dashboard follows these steps:</a:t>
            </a:r>
          </a:p>
          <a:p>
            <a:pPr marL="0" indent="0">
              <a:buNone/>
            </a:pPr>
            <a:r>
              <a:rPr lang="en-US" sz="2200" b="1" dirty="0"/>
              <a:t>Step 1 – Data Collection</a:t>
            </a:r>
            <a:br>
              <a:rPr lang="en-US" sz="2200" dirty="0"/>
            </a:br>
            <a:r>
              <a:rPr lang="en-US" sz="2200" dirty="0"/>
              <a:t>	</a:t>
            </a:r>
            <a:r>
              <a:rPr lang="en-US" sz="1600" dirty="0"/>
              <a:t>Generate or collect travel booking dataset.</a:t>
            </a:r>
          </a:p>
          <a:p>
            <a:pPr marL="0" indent="0">
              <a:buNone/>
            </a:pPr>
            <a:r>
              <a:rPr lang="en-US" sz="2200" b="1" dirty="0"/>
              <a:t>Step 2 – Data Import</a:t>
            </a:r>
            <a:br>
              <a:rPr lang="en-US" sz="2200" dirty="0"/>
            </a:br>
            <a:r>
              <a:rPr lang="en-US" sz="2200" dirty="0"/>
              <a:t>	</a:t>
            </a:r>
            <a:r>
              <a:rPr lang="en-US" sz="1600" dirty="0"/>
              <a:t>Import the dataset into Power BI.</a:t>
            </a:r>
          </a:p>
          <a:p>
            <a:pPr marL="0" indent="0">
              <a:buNone/>
            </a:pPr>
            <a:r>
              <a:rPr lang="en-US" sz="2200" b="1" dirty="0"/>
              <a:t>Step 3 – Data Cleaning</a:t>
            </a:r>
            <a:br>
              <a:rPr lang="en-US" sz="2200" dirty="0"/>
            </a:br>
            <a:r>
              <a:rPr lang="en-US" sz="2200" dirty="0"/>
              <a:t>	</a:t>
            </a:r>
            <a:r>
              <a:rPr lang="en-US" sz="1600" dirty="0"/>
              <a:t>Use Power Query to remove errors, duplicates, and format data.</a:t>
            </a:r>
          </a:p>
          <a:p>
            <a:pPr marL="0" indent="0">
              <a:buNone/>
            </a:pPr>
            <a:r>
              <a:rPr lang="en-US" sz="2200" b="1" dirty="0"/>
              <a:t>Step 4 – Data Modeling</a:t>
            </a:r>
            <a:br>
              <a:rPr lang="en-US" sz="2200" dirty="0"/>
            </a:br>
            <a:r>
              <a:rPr lang="en-US" sz="1600" dirty="0"/>
              <a:t>Create relationships and calculated measures such as:</a:t>
            </a:r>
          </a:p>
          <a:p>
            <a:pPr lvl="1"/>
            <a:r>
              <a:rPr lang="en-US" sz="1600" dirty="0"/>
              <a:t>Total Bookings</a:t>
            </a:r>
          </a:p>
          <a:p>
            <a:pPr lvl="1"/>
            <a:r>
              <a:rPr lang="en-US" sz="1600" dirty="0"/>
              <a:t>Total Revenue</a:t>
            </a:r>
          </a:p>
          <a:p>
            <a:pPr lvl="1"/>
            <a:r>
              <a:rPr lang="en-US" sz="1600" dirty="0"/>
              <a:t>Average Booking Value</a:t>
            </a:r>
          </a:p>
          <a:p>
            <a:pPr marL="0" indent="0">
              <a:buNone/>
            </a:pPr>
            <a:r>
              <a:rPr lang="en-US" sz="2200" b="1" dirty="0"/>
              <a:t>Step 5 – Visualization Design</a:t>
            </a:r>
            <a:br>
              <a:rPr lang="en-US" sz="2200" dirty="0"/>
            </a:br>
            <a:r>
              <a:rPr lang="en-US" sz="1600" dirty="0"/>
              <a:t>Create dashboard visuals such as:</a:t>
            </a:r>
          </a:p>
          <a:p>
            <a:pPr lvl="1"/>
            <a:r>
              <a:rPr lang="en-US" sz="1600" dirty="0"/>
              <a:t>Booking Trend Chart</a:t>
            </a:r>
          </a:p>
          <a:p>
            <a:pPr lvl="1"/>
            <a:r>
              <a:rPr lang="en-US" sz="1600" dirty="0"/>
              <a:t>Top Destinations Chart</a:t>
            </a:r>
          </a:p>
          <a:p>
            <a:pPr lvl="1"/>
            <a:r>
              <a:rPr lang="en-US" sz="1600" dirty="0"/>
              <a:t>Traveler Demographics Pie Chart</a:t>
            </a:r>
          </a:p>
          <a:p>
            <a:pPr lvl="1"/>
            <a:r>
              <a:rPr lang="en-US" sz="1600" dirty="0"/>
              <a:t>India Booking Heatmap</a:t>
            </a:r>
          </a:p>
          <a:p>
            <a:pPr lvl="1"/>
            <a:r>
              <a:rPr lang="en-US" sz="1600" dirty="0"/>
              <a:t>Top Airlines Chart</a:t>
            </a:r>
          </a:p>
          <a:p>
            <a:pPr marL="0" indent="0">
              <a:buNone/>
            </a:pPr>
            <a:r>
              <a:rPr lang="en-US" sz="2200" b="1" dirty="0"/>
              <a:t>Step 6 – Deployment</a:t>
            </a:r>
            <a:br>
              <a:rPr lang="en-US" sz="2200" dirty="0"/>
            </a:br>
            <a:r>
              <a:rPr lang="en-US" sz="2200" dirty="0"/>
              <a:t>	</a:t>
            </a:r>
            <a:r>
              <a:rPr lang="en-US" sz="1600" dirty="0"/>
              <a:t>Publish the dashboard for users to analyze travel business performance.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7A1F55-81E4-D5E8-B1A0-93A2F97C4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444" y="1584325"/>
            <a:ext cx="6376987" cy="42513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24919-ED56-CE3F-BB5D-E0F6B090C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444" y="734786"/>
            <a:ext cx="8833756" cy="588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89DDB-698E-B624-5621-F9D79482F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The MakeMyTrip Travel Analytics Dashboard provides a powerful way to analyze travel booking data.</a:t>
            </a:r>
          </a:p>
          <a:p>
            <a:pPr marL="0" indent="0">
              <a:buNone/>
            </a:pPr>
            <a:r>
              <a:rPr lang="en-US" sz="2400" dirty="0"/>
              <a:t>The system converts large amounts of raw data into clear visual insights.</a:t>
            </a:r>
          </a:p>
          <a:p>
            <a:pPr marL="0" indent="0">
              <a:buNone/>
            </a:pPr>
            <a:r>
              <a:rPr lang="en-US" sz="2400" dirty="0"/>
              <a:t>Benefits of the system include:</a:t>
            </a:r>
          </a:p>
          <a:p>
            <a:pPr lvl="1"/>
            <a:r>
              <a:rPr lang="en-US" sz="2000" dirty="0"/>
              <a:t>Improved business decision making</a:t>
            </a:r>
          </a:p>
          <a:p>
            <a:pPr lvl="1"/>
            <a:r>
              <a:rPr lang="en-US" sz="2000" dirty="0"/>
              <a:t>Easy monitoring of booking trends</a:t>
            </a:r>
          </a:p>
          <a:p>
            <a:pPr lvl="1"/>
            <a:r>
              <a:rPr lang="en-US" sz="2000" dirty="0"/>
              <a:t>Identification of popular destinations and airlines</a:t>
            </a:r>
          </a:p>
          <a:p>
            <a:pPr lvl="1"/>
            <a:r>
              <a:rPr lang="en-US" sz="2000" dirty="0"/>
              <a:t>Better understanding of customer travel behavior</a:t>
            </a:r>
          </a:p>
          <a:p>
            <a:pPr marL="0" indent="0">
              <a:buNone/>
            </a:pPr>
            <a:r>
              <a:rPr lang="en-US" sz="2400" dirty="0"/>
              <a:t>Power BI makes it possible to analyze big datasets efficiently through interactive dashboards.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/>
            </a:endParaRPr>
          </a:p>
          <a:p>
            <a:pPr marL="0" indent="0">
              <a:buNone/>
            </a:pPr>
            <a:r>
              <a:rPr lang="en-US" sz="2400" dirty="0"/>
              <a:t>The system can be further improved by adding the following features:</a:t>
            </a:r>
          </a:p>
          <a:p>
            <a:pPr lvl="1"/>
            <a:r>
              <a:rPr lang="en-US" sz="2000" dirty="0"/>
              <a:t>Integration with </a:t>
            </a:r>
            <a:r>
              <a:rPr lang="en-US" sz="2000" b="1" dirty="0"/>
              <a:t>real-time travel booking systems</a:t>
            </a:r>
            <a:endParaRPr lang="en-US" sz="2000" dirty="0"/>
          </a:p>
          <a:p>
            <a:pPr lvl="1"/>
            <a:r>
              <a:rPr lang="en-US" sz="2000" dirty="0"/>
              <a:t>Implementation of </a:t>
            </a:r>
            <a:r>
              <a:rPr lang="en-US" sz="2000" b="1" dirty="0"/>
              <a:t>machine learning for demand prediction</a:t>
            </a:r>
            <a:endParaRPr lang="en-US" sz="2000" dirty="0"/>
          </a:p>
          <a:p>
            <a:pPr lvl="1"/>
            <a:r>
              <a:rPr lang="en-US" sz="2000" dirty="0"/>
              <a:t>Addition of </a:t>
            </a:r>
            <a:r>
              <a:rPr lang="en-US" sz="2000" b="1" dirty="0"/>
              <a:t>hotel and holiday package analytics</a:t>
            </a:r>
            <a:endParaRPr lang="en-US" sz="2000" dirty="0"/>
          </a:p>
          <a:p>
            <a:pPr lvl="1"/>
            <a:r>
              <a:rPr lang="en-US" sz="2000" dirty="0"/>
              <a:t>Mobile dashboard access through </a:t>
            </a:r>
            <a:r>
              <a:rPr lang="en-US" sz="2000" b="1" dirty="0"/>
              <a:t>Power BI Service</a:t>
            </a:r>
            <a:endParaRPr lang="en-US" sz="2000" dirty="0"/>
          </a:p>
          <a:p>
            <a:pPr lvl="1"/>
            <a:r>
              <a:rPr lang="en-US" sz="2000" dirty="0"/>
              <a:t>Integration with </a:t>
            </a:r>
            <a:r>
              <a:rPr lang="en-US" sz="2000" b="1" dirty="0"/>
              <a:t>cloud platforms like AWS or Azure</a:t>
            </a:r>
            <a:endParaRPr lang="en-US" sz="2000" dirty="0"/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6E122-C4E2-8D18-1B83-474848DA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A931-24B2-AD91-EC96-DA2E38E31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References: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19428-FEC2-103A-9057-45E1E5CE2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052096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IN" sz="2400" dirty="0"/>
              <a:t>Microsoft Power BI Documentation</a:t>
            </a:r>
          </a:p>
          <a:p>
            <a:pPr marL="457200" indent="-457200">
              <a:buAutoNum type="arabicPeriod"/>
            </a:pPr>
            <a:r>
              <a:rPr lang="en-US" sz="2400" dirty="0"/>
              <a:t>Microsoft Learn – Power BI Tutorials</a:t>
            </a:r>
          </a:p>
          <a:p>
            <a:pPr marL="457200" indent="-457200">
              <a:buAutoNum type="arabicPeriod"/>
            </a:pPr>
            <a:r>
              <a:rPr lang="en-IN" sz="2400" dirty="0"/>
              <a:t>MakeMyTrip Travel Industry Reports</a:t>
            </a:r>
          </a:p>
          <a:p>
            <a:pPr marL="457200" indent="-457200">
              <a:buAutoNum type="arabicPeriod"/>
            </a:pPr>
            <a:r>
              <a:rPr lang="en-IN" sz="2400" dirty="0"/>
              <a:t>Data Visualization Best Practices</a:t>
            </a:r>
          </a:p>
          <a:p>
            <a:pPr marL="457200" indent="-457200">
              <a:buAutoNum type="arabicPeriod"/>
            </a:pPr>
            <a:r>
              <a:rPr lang="en-US" sz="2400" dirty="0"/>
              <a:t>Online resources for Power BI Dashboard Development</a:t>
            </a: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/>
              </a:rPr>
              <a:t>Link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53328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630</Words>
  <Application>Microsoft Office PowerPoint</Application>
  <PresentationFormat>Widescreen</PresentationFormat>
  <Paragraphs>106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Onkar Londhe</cp:lastModifiedBy>
  <cp:revision>101</cp:revision>
  <dcterms:created xsi:type="dcterms:W3CDTF">2024-05-21T11:55:07Z</dcterms:created>
  <dcterms:modified xsi:type="dcterms:W3CDTF">2026-03-05T07:20:09Z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