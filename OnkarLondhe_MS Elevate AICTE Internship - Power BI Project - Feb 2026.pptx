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4.xml" ContentType="application/vnd.openxmlformats-officedocument.presentationml.tags+xml"/>
  <Override PartName="/ppt/notesSlides/notesSlide1.xml" ContentType="application/vnd.openxmlformats-officedocument.presentationml.notesSlide+xml"/>
  <Override PartName="/ppt/tags/tag5.xml" ContentType="application/vnd.openxmlformats-officedocument.presentationml.tags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0" r:id="rId1"/>
    <p:sldMasterId id="2147483652" r:id="rId2"/>
  </p:sldMasterIdLst>
  <p:notesMasterIdLst>
    <p:notesMasterId r:id="rId14"/>
  </p:notesMasterIdLst>
  <p:sldIdLst>
    <p:sldId id="256" r:id="rId3"/>
    <p:sldId id="571" r:id="rId4"/>
    <p:sldId id="572" r:id="rId5"/>
    <p:sldId id="573" r:id="rId6"/>
    <p:sldId id="574" r:id="rId7"/>
    <p:sldId id="575" r:id="rId8"/>
    <p:sldId id="576" r:id="rId9"/>
    <p:sldId id="577" r:id="rId10"/>
    <p:sldId id="579" r:id="rId11"/>
    <p:sldId id="580" r:id="rId12"/>
    <p:sldId id="536" r:id="rId13"/>
  </p:sldIdLst>
  <p:sldSz cx="12192000" cy="6858000"/>
  <p:notesSz cx="6858000" cy="9144000"/>
  <p:custDataLst>
    <p:tags r:id="rId1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72" userDrawn="1">
          <p15:clr>
            <a:srgbClr val="A4A3A4"/>
          </p15:clr>
        </p15:guide>
        <p15:guide id="2" pos="312" userDrawn="1">
          <p15:clr>
            <a:srgbClr val="A4A3A4"/>
          </p15:clr>
        </p15:guide>
        <p15:guide id="3" orient="horz" pos="912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4B9636B-3D94-EB3D-7CF5-3935240F8C9F}" name="Ramar Bose" initials="RB" userId="S::ramar@edunetfoundation.org::ae727035-80f4-46a2-9b41-59f778a1b49a" providerId="AD"/>
  <p188:author id="{D0A8B7BB-36D1-777B-64C8-9A30C894A727}" name="Rashmi Mishra" initials="RM" userId="S::rmishra@edunetfoundation.org::6469e6c3-66fa-4f4f-9c10-a71ac4161bf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4A751"/>
    <a:srgbClr val="263570"/>
    <a:srgbClr val="4A9DE2"/>
    <a:srgbClr val="88BFEC"/>
    <a:srgbClr val="F9B1B1"/>
    <a:srgbClr val="B2DE82"/>
    <a:srgbClr val="F57373"/>
    <a:srgbClr val="F03434"/>
    <a:srgbClr val="BC7D00"/>
    <a:srgbClr val="FFBC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73818" autoAdjust="0"/>
  </p:normalViewPr>
  <p:slideViewPr>
    <p:cSldViewPr snapToGrid="0">
      <p:cViewPr varScale="1">
        <p:scale>
          <a:sx n="88" d="100"/>
          <a:sy n="88" d="100"/>
        </p:scale>
        <p:origin x="228" y="57"/>
      </p:cViewPr>
      <p:guideLst>
        <p:guide orient="horz" pos="672"/>
        <p:guide pos="312"/>
        <p:guide orient="horz" pos="91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20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tags" Target="tags/tag1.xml"/><Relationship Id="rId10" Type="http://schemas.openxmlformats.org/officeDocument/2006/relationships/slide" Target="slides/slide8.xml"/><Relationship Id="rId19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699836-02B7-459A-AF64-A000817D576C}" type="datetimeFigureOut">
              <a:rPr lang="en-IN" smtClean="0"/>
              <a:t>05-03-2026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065E4E-ABE4-4C79-8716-B93932D5FBD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413316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065E4E-ABE4-4C79-8716-B93932D5FBD3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82663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88B07-5A8B-12D3-48D5-B8315D13CD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7B6700-05A0-7411-109E-A374569B63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88D759-B238-4D1C-A179-63DF885F62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C31F17-191B-CFE4-28A8-DF229B9493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065E4E-ABE4-4C79-8716-B93932D5FBD3}" type="slidenum">
              <a:rPr lang="en-IN" smtClean="0"/>
              <a:t>11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768545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  <p:extLst>
      <p:ext uri="{BB962C8B-B14F-4D97-AF65-F5344CB8AC3E}">
        <p14:creationId xmlns:p14="http://schemas.microsoft.com/office/powerpoint/2010/main" val="40626846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userDrawn="1">
  <p:cSld name="1_Title and 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769097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B54273-D1B2-B5DA-BF7E-9FF169DF6E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0EE723-48AC-C184-D51D-DB184D9E4A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5A217C-58BE-CEDC-FE42-FFECCA161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3FA99E-0146-4BD9-9E30-4EB71F3A4207}" type="datetimeFigureOut">
              <a:rPr lang="en-IN" smtClean="0"/>
              <a:t>05-03-2026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F67DFB-4595-5610-E73D-EA112439D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B5188B-8994-FE2D-E924-64F2FB541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81918-31C6-44C6-A382-2FA557A3F6B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509285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E50D6-574B-40AF-946F-D52A04ADE379}" type="datetime1">
              <a:rPr lang="en-US" smtClean="0"/>
              <a:t>3/5/2026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592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05/03/2026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88563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271073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452293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898709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userDrawn="1">
  <p:cSld name="1_Title and 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797476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ags" Target="../tags/tag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BE36FD2-5CF9-42B6-267C-75A9A8826A1C}"/>
              </a:ext>
            </a:extLst>
          </p:cNvPr>
          <p:cNvSpPr/>
          <p:nvPr userDrawn="1"/>
        </p:nvSpPr>
        <p:spPr>
          <a:xfrm>
            <a:off x="0" y="0"/>
            <a:ext cx="10374086" cy="660400"/>
          </a:xfrm>
          <a:prstGeom prst="rect">
            <a:avLst/>
          </a:prstGeom>
          <a:solidFill>
            <a:srgbClr val="2635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5F6CF07-40A9-24A4-F336-0BDA8D93267D}"/>
              </a:ext>
            </a:extLst>
          </p:cNvPr>
          <p:cNvSpPr/>
          <p:nvPr userDrawn="1"/>
        </p:nvSpPr>
        <p:spPr>
          <a:xfrm>
            <a:off x="0" y="6692900"/>
            <a:ext cx="12192000" cy="165100"/>
          </a:xfrm>
          <a:prstGeom prst="rect">
            <a:avLst/>
          </a:prstGeom>
          <a:solidFill>
            <a:srgbClr val="34A7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028" name="Picture 4" descr="A black background with grey text&#10;&#10;AI-generated content may be incorrect.">
            <a:extLst>
              <a:ext uri="{FF2B5EF4-FFF2-40B4-BE49-F238E27FC236}">
                <a16:creationId xmlns:a16="http://schemas.microsoft.com/office/drawing/2014/main" id="{66C649D9-DD8B-5B7D-F409-A3797AEF3D3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65905" y="91005"/>
            <a:ext cx="1466678" cy="4783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custDataLst>
      <p:tags r:id="rId7"/>
    </p:custDataLst>
    <p:extLst>
      <p:ext uri="{BB962C8B-B14F-4D97-AF65-F5344CB8AC3E}">
        <p14:creationId xmlns:p14="http://schemas.microsoft.com/office/powerpoint/2010/main" val="34789751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65" r:id="rId2"/>
    <p:sldLayoutId id="2147483666" r:id="rId3"/>
    <p:sldLayoutId id="2147483667" r:id="rId4"/>
    <p:sldLayoutId id="2147483668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351792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62" r:id="rId2"/>
    <p:sldLayoutId id="2147483663" r:id="rId3"/>
    <p:sldLayoutId id="2147483664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4.xml"/><Relationship Id="rId5" Type="http://schemas.openxmlformats.org/officeDocument/2006/relationships/image" Target="../media/image2.jp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onkarlondhe1139/OnkarLondhe-MS-Elevate-AICTE-Internship---Power-BI-Project---Feb-2026" TargetMode="Externa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940A069D-B6C2-7B0A-6719-9C65A27E0952}"/>
              </a:ext>
            </a:extLst>
          </p:cNvPr>
          <p:cNvSpPr/>
          <p:nvPr/>
        </p:nvSpPr>
        <p:spPr>
          <a:xfrm>
            <a:off x="-32657" y="3429000"/>
            <a:ext cx="424543" cy="3429000"/>
          </a:xfrm>
          <a:prstGeom prst="rect">
            <a:avLst/>
          </a:prstGeom>
          <a:solidFill>
            <a:srgbClr val="34A7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5C78EFA-3B33-383D-31A6-F48EC0533950}"/>
              </a:ext>
            </a:extLst>
          </p:cNvPr>
          <p:cNvSpPr/>
          <p:nvPr/>
        </p:nvSpPr>
        <p:spPr>
          <a:xfrm>
            <a:off x="0" y="0"/>
            <a:ext cx="228600" cy="3429000"/>
          </a:xfrm>
          <a:prstGeom prst="rect">
            <a:avLst/>
          </a:prstGeom>
          <a:solidFill>
            <a:srgbClr val="2635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7DD7732-9B23-40F7-1FF7-FD50BDC193D8}"/>
              </a:ext>
            </a:extLst>
          </p:cNvPr>
          <p:cNvSpPr/>
          <p:nvPr/>
        </p:nvSpPr>
        <p:spPr>
          <a:xfrm>
            <a:off x="7913913" y="0"/>
            <a:ext cx="4985657" cy="3156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2DA2A85-6D5C-2987-0FF8-3AF240456D3B}"/>
              </a:ext>
            </a:extLst>
          </p:cNvPr>
          <p:cNvSpPr/>
          <p:nvPr/>
        </p:nvSpPr>
        <p:spPr>
          <a:xfrm>
            <a:off x="-32657" y="6509659"/>
            <a:ext cx="12888684" cy="348341"/>
          </a:xfrm>
          <a:prstGeom prst="rect">
            <a:avLst/>
          </a:prstGeom>
          <a:solidFill>
            <a:srgbClr val="34A7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0" name="Picture 2" descr="A black background with grey text&#10;&#10;AI-generated content may be incorrect.">
            <a:extLst>
              <a:ext uri="{FF2B5EF4-FFF2-40B4-BE49-F238E27FC236}">
                <a16:creationId xmlns:a16="http://schemas.microsoft.com/office/drawing/2014/main" id="{4D362339-2CD4-BEA9-8BCD-81A300A3C9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7304" y="316620"/>
            <a:ext cx="1725854" cy="562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91DC6ABD-215C-4EA8-A483-CEF5B99AB3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 bwMode="white">
          <a:xfrm>
            <a:off x="0" y="0"/>
            <a:ext cx="12191999" cy="68573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GB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F837936-4230-3A98-A2A1-6E77E027B36D}"/>
              </a:ext>
            </a:extLst>
          </p:cNvPr>
          <p:cNvSpPr>
            <a:spLocks noGrp="1"/>
          </p:cNvSpPr>
          <p:nvPr/>
        </p:nvSpPr>
        <p:spPr>
          <a:xfrm>
            <a:off x="517379" y="1343054"/>
            <a:ext cx="4746772" cy="2570360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7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800" b="1" kern="1200" dirty="0">
                <a:latin typeface="+mj-lt"/>
                <a:ea typeface="+mj-ea"/>
                <a:cs typeface="+mj-cs"/>
              </a:rPr>
              <a:t>CAPSTONE </a:t>
            </a:r>
            <a:r>
              <a:rPr lang="en-US" sz="2800" b="1" dirty="0"/>
              <a:t>PROJECT</a:t>
            </a:r>
            <a:endParaRPr lang="en-US" sz="5100" dirty="0">
              <a:latin typeface="Aptos"/>
            </a:endParaRPr>
          </a:p>
          <a:p>
            <a:pPr algn="l"/>
            <a:br>
              <a:rPr lang="en-US" sz="5100" b="1" dirty="0"/>
            </a:br>
            <a:r>
              <a:rPr lang="en-IN" sz="5200" b="1" dirty="0">
                <a:latin typeface="+mn-lt"/>
              </a:rPr>
              <a:t>MakeMyTrip Travel Analytics </a:t>
            </a:r>
          </a:p>
          <a:p>
            <a:pPr algn="l"/>
            <a:r>
              <a:rPr lang="en-IN" sz="5200" b="1" dirty="0">
                <a:latin typeface="+mn-lt"/>
              </a:rPr>
              <a:t>Dashboard Using Power BI</a:t>
            </a:r>
            <a:endParaRPr lang="en-US" sz="5200" b="1" dirty="0">
              <a:latin typeface="+mn-lt"/>
            </a:endParaRPr>
          </a:p>
          <a:p>
            <a:pPr algn="l"/>
            <a:endParaRPr lang="en-US" sz="5100" b="1" kern="1200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3A663A0C-3931-F8E6-391C-2FF1FDBB09CD}"/>
              </a:ext>
            </a:extLst>
          </p:cNvPr>
          <p:cNvSpPr>
            <a:spLocks noGrp="1"/>
          </p:cNvSpPr>
          <p:nvPr/>
        </p:nvSpPr>
        <p:spPr>
          <a:xfrm>
            <a:off x="594126" y="3739889"/>
            <a:ext cx="4021417" cy="230168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spcAft>
                <a:spcPts val="600"/>
              </a:spcAft>
            </a:pPr>
            <a:r>
              <a:rPr lang="en-US" sz="1600" b="1" cap="all" dirty="0"/>
              <a:t>Presented By</a:t>
            </a:r>
            <a:endParaRPr lang="en-US" sz="1600" cap="all" dirty="0"/>
          </a:p>
          <a:p>
            <a:pPr algn="l">
              <a:spcAft>
                <a:spcPts val="600"/>
              </a:spcAft>
            </a:pPr>
            <a:r>
              <a:rPr lang="en-US" sz="1600" b="1" cap="all" dirty="0"/>
              <a:t>Student Name: </a:t>
            </a:r>
            <a:r>
              <a:rPr lang="en-US" sz="1600" b="1" dirty="0"/>
              <a:t>Onkar Abhiman Londhe</a:t>
            </a:r>
            <a:endParaRPr lang="en-US" sz="1600" b="1" cap="all" dirty="0"/>
          </a:p>
          <a:p>
            <a:pPr algn="l">
              <a:spcAft>
                <a:spcPts val="600"/>
              </a:spcAft>
            </a:pPr>
            <a:r>
              <a:rPr lang="en-US" sz="1600" b="1" cap="all" dirty="0"/>
              <a:t>College Name: </a:t>
            </a:r>
            <a:r>
              <a:rPr lang="en-US" sz="1600" b="1" cap="all" dirty="0" err="1"/>
              <a:t>s.b.</a:t>
            </a:r>
            <a:r>
              <a:rPr lang="en-US" sz="1600" b="1" cap="all" dirty="0"/>
              <a:t> P</a:t>
            </a:r>
            <a:r>
              <a:rPr lang="en-US" sz="1600" b="1" dirty="0"/>
              <a:t>atil </a:t>
            </a:r>
            <a:r>
              <a:rPr lang="en-IN" sz="1600" b="1" dirty="0"/>
              <a:t>college of Engineering Pune</a:t>
            </a:r>
            <a:endParaRPr lang="en-US" sz="1600" b="1" cap="all" dirty="0"/>
          </a:p>
          <a:p>
            <a:pPr algn="l">
              <a:spcAft>
                <a:spcPts val="600"/>
              </a:spcAft>
            </a:pPr>
            <a:r>
              <a:rPr lang="en-US" sz="1600" b="1" cap="all" dirty="0"/>
              <a:t>Department: </a:t>
            </a:r>
            <a:r>
              <a:rPr lang="en-IN" sz="1600" b="1" cap="all" dirty="0"/>
              <a:t>C</a:t>
            </a:r>
            <a:r>
              <a:rPr lang="en-IN" sz="1600" b="1" dirty="0"/>
              <a:t>omputer Engineering </a:t>
            </a:r>
            <a:endParaRPr lang="en-US" sz="1600" b="1" cap="all" dirty="0"/>
          </a:p>
          <a:p>
            <a:pPr algn="l">
              <a:spcAft>
                <a:spcPts val="600"/>
              </a:spcAft>
            </a:pPr>
            <a:r>
              <a:rPr lang="en-US" sz="1600" b="1" cap="all" dirty="0"/>
              <a:t>Email ID: </a:t>
            </a:r>
            <a:r>
              <a:rPr lang="en-US" sz="1600" b="1" dirty="0"/>
              <a:t>onkarlondhe1139@gmail.com</a:t>
            </a:r>
            <a:endParaRPr lang="en-US" sz="1600" b="1" cap="all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4357C93-F0CB-4A1C-8F77-4E90637898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5386598" y="269324"/>
            <a:ext cx="6116779" cy="620877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GB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4288F3F-AD4C-81EA-1336-D2C00EFCC47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603787" y="963029"/>
            <a:ext cx="4203189" cy="4936489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3103334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1E0E59-694D-9DFE-4488-37D5F2F480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191" y="698500"/>
            <a:ext cx="10515600" cy="1325563"/>
          </a:xfrm>
        </p:spPr>
        <p:txBody>
          <a:bodyPr lIns="91440" tIns="45720" rIns="91440" bIns="45720" anchor="t">
            <a:normAutofit/>
          </a:bodyPr>
          <a:lstStyle/>
          <a:p>
            <a:r>
              <a:rPr lang="en-US" sz="5400" b="1" cap="all" dirty="0">
                <a:latin typeface="Arial"/>
                <a:cs typeface="Arial"/>
              </a:rPr>
              <a:t>OUTLINE:</a:t>
            </a:r>
            <a:endParaRPr lang="en-US" sz="5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04173D-62A9-AF06-B476-EEB827087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387" y="1822228"/>
            <a:ext cx="10515600" cy="4251960"/>
          </a:xfrm>
        </p:spPr>
        <p:txBody>
          <a:bodyPr vert="horz" lIns="91440" tIns="45720" rIns="91440" bIns="45720" rtlCol="0">
            <a:normAutofit/>
          </a:bodyPr>
          <a:lstStyle/>
          <a:p>
            <a:pPr marL="305435" indent="-305435">
              <a:spcBef>
                <a:spcPct val="20000"/>
              </a:spcBef>
              <a:spcAft>
                <a:spcPts val="600"/>
              </a:spcAft>
            </a:pPr>
            <a:r>
              <a:rPr lang="en-US" sz="2200" b="1" dirty="0">
                <a:latin typeface="Arial"/>
                <a:cs typeface="Arial"/>
              </a:rPr>
              <a:t>Problem Statement </a:t>
            </a:r>
            <a:r>
              <a:rPr lang="en-US" sz="2200" dirty="0">
                <a:latin typeface="Arial"/>
                <a:cs typeface="Arial"/>
              </a:rPr>
              <a:t>(Should not include solution)</a:t>
            </a:r>
          </a:p>
          <a:p>
            <a:pPr marL="305435" indent="-305435">
              <a:spcBef>
                <a:spcPct val="20000"/>
              </a:spcBef>
              <a:spcAft>
                <a:spcPts val="600"/>
              </a:spcAft>
            </a:pPr>
            <a:r>
              <a:rPr lang="en-US" sz="2200" b="1" dirty="0">
                <a:latin typeface="Arial"/>
                <a:cs typeface="Arial"/>
              </a:rPr>
              <a:t>Proposed System/Solution</a:t>
            </a:r>
            <a:endParaRPr lang="en-US" sz="2200" dirty="0">
              <a:latin typeface="Arial"/>
              <a:cs typeface="Arial"/>
            </a:endParaRPr>
          </a:p>
          <a:p>
            <a:pPr marL="305435" indent="-305435">
              <a:spcBef>
                <a:spcPct val="20000"/>
              </a:spcBef>
              <a:spcAft>
                <a:spcPts val="600"/>
              </a:spcAft>
            </a:pPr>
            <a:r>
              <a:rPr lang="en-US" sz="2200" b="1" dirty="0">
                <a:latin typeface="Arial"/>
                <a:cs typeface="Arial"/>
              </a:rPr>
              <a:t>System Development Approach </a:t>
            </a:r>
            <a:r>
              <a:rPr lang="en-US" sz="2200" dirty="0">
                <a:latin typeface="Arial"/>
                <a:cs typeface="Arial"/>
              </a:rPr>
              <a:t>(Technology Used) </a:t>
            </a:r>
          </a:p>
          <a:p>
            <a:pPr marL="305435" indent="-305435">
              <a:spcBef>
                <a:spcPct val="20000"/>
              </a:spcBef>
              <a:spcAft>
                <a:spcPts val="600"/>
              </a:spcAft>
            </a:pPr>
            <a:r>
              <a:rPr lang="en-US" sz="2200" b="1" dirty="0">
                <a:latin typeface="Arial"/>
                <a:cs typeface="Arial"/>
              </a:rPr>
              <a:t>Algorithm &amp; Deployment  </a:t>
            </a:r>
            <a:endParaRPr lang="en-US" sz="2200" dirty="0">
              <a:latin typeface="Arial"/>
              <a:cs typeface="Arial"/>
            </a:endParaRPr>
          </a:p>
          <a:p>
            <a:pPr marL="305435" indent="-305435">
              <a:spcBef>
                <a:spcPct val="20000"/>
              </a:spcBef>
              <a:spcAft>
                <a:spcPts val="600"/>
              </a:spcAft>
            </a:pPr>
            <a:r>
              <a:rPr lang="en-US" sz="2200" b="1" dirty="0">
                <a:latin typeface="Arial"/>
                <a:cs typeface="Arial"/>
              </a:rPr>
              <a:t>Result (Output Image)</a:t>
            </a:r>
            <a:endParaRPr lang="en-US" sz="2200" dirty="0">
              <a:latin typeface="Arial"/>
              <a:cs typeface="Arial"/>
            </a:endParaRPr>
          </a:p>
          <a:p>
            <a:pPr marL="305435" indent="-305435">
              <a:spcBef>
                <a:spcPct val="20000"/>
              </a:spcBef>
              <a:spcAft>
                <a:spcPts val="600"/>
              </a:spcAft>
            </a:pPr>
            <a:r>
              <a:rPr lang="en-US" sz="2200" b="1" dirty="0">
                <a:latin typeface="Arial"/>
                <a:cs typeface="Arial"/>
              </a:rPr>
              <a:t>Conclusion</a:t>
            </a:r>
            <a:endParaRPr lang="en-US" sz="2200" dirty="0">
              <a:latin typeface="Arial"/>
              <a:cs typeface="Arial"/>
            </a:endParaRPr>
          </a:p>
          <a:p>
            <a:pPr marL="305435" indent="-305435">
              <a:spcBef>
                <a:spcPct val="20000"/>
              </a:spcBef>
              <a:spcAft>
                <a:spcPts val="600"/>
              </a:spcAft>
            </a:pPr>
            <a:r>
              <a:rPr lang="en-US" sz="2200" b="1" dirty="0">
                <a:latin typeface="Arial"/>
                <a:cs typeface="Arial"/>
              </a:rPr>
              <a:t>Future Scope</a:t>
            </a:r>
            <a:endParaRPr lang="en-US" sz="2200" dirty="0">
              <a:latin typeface="Arial"/>
              <a:cs typeface="Arial"/>
            </a:endParaRPr>
          </a:p>
          <a:p>
            <a:pPr marL="305435" indent="-305435">
              <a:spcBef>
                <a:spcPct val="20000"/>
              </a:spcBef>
              <a:spcAft>
                <a:spcPts val="600"/>
              </a:spcAft>
            </a:pPr>
            <a:r>
              <a:rPr lang="en-US" sz="2200" b="1" dirty="0">
                <a:latin typeface="Arial"/>
                <a:cs typeface="Arial"/>
              </a:rPr>
              <a:t>References</a:t>
            </a:r>
            <a:endParaRPr lang="en-US" sz="2200" dirty="0">
              <a:latin typeface="Arial"/>
              <a:cs typeface="Arial"/>
            </a:endParaRPr>
          </a:p>
          <a:p>
            <a:endParaRPr lang="en-GB" sz="2200" dirty="0">
              <a:latin typeface="Aptos" panose="020B0004020202020204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178747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9B35C-A00A-C6C7-8532-576758ED42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191" y="686594"/>
            <a:ext cx="10515600" cy="1325563"/>
          </a:xfrm>
        </p:spPr>
        <p:txBody>
          <a:bodyPr lIns="91440" tIns="45720" rIns="91440" bIns="45720" anchor="t">
            <a:normAutofit/>
          </a:bodyPr>
          <a:lstStyle/>
          <a:p>
            <a:r>
              <a:rPr lang="en-US" sz="4000" b="1" cap="all" dirty="0">
                <a:latin typeface="Arial"/>
                <a:cs typeface="Arial"/>
              </a:rPr>
              <a:t>Problem Statement: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E8C97F-5AC9-F1CA-3CCC-090D5B1398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0512" y="1715071"/>
            <a:ext cx="10515600" cy="4251960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2000" dirty="0"/>
              <a:t>The travel industry generates a huge amount of booking data every day.</a:t>
            </a:r>
            <a:br>
              <a:rPr lang="en-US" sz="2000" dirty="0"/>
            </a:br>
            <a:r>
              <a:rPr lang="en-US" sz="2000" dirty="0"/>
              <a:t>However, raw data stored in spreadsheets or databases is difficult to analyze quickly.</a:t>
            </a:r>
          </a:p>
          <a:p>
            <a:pPr lvl="1"/>
            <a:r>
              <a:rPr lang="en-US" sz="2000" dirty="0"/>
              <a:t>Difficulty in tracking </a:t>
            </a:r>
            <a:r>
              <a:rPr lang="en-US" sz="2000" b="1" dirty="0"/>
              <a:t>total bookings and revenue</a:t>
            </a:r>
            <a:endParaRPr lang="en-US" sz="2000" dirty="0"/>
          </a:p>
          <a:p>
            <a:pPr lvl="1"/>
            <a:r>
              <a:rPr lang="en-US" sz="2000" dirty="0"/>
              <a:t>Lack of clear insights into </a:t>
            </a:r>
            <a:r>
              <a:rPr lang="en-US" sz="2000" b="1" dirty="0"/>
              <a:t>popular destinations</a:t>
            </a:r>
            <a:endParaRPr lang="en-US" sz="2000" dirty="0"/>
          </a:p>
          <a:p>
            <a:pPr lvl="1"/>
            <a:r>
              <a:rPr lang="en-US" sz="2000" dirty="0"/>
              <a:t>Travel companies face the following problems:</a:t>
            </a:r>
          </a:p>
          <a:p>
            <a:pPr lvl="1"/>
            <a:r>
              <a:rPr lang="en-US" sz="2000" dirty="0"/>
              <a:t>Hard to analyze </a:t>
            </a:r>
            <a:r>
              <a:rPr lang="en-US" sz="2000" b="1" dirty="0"/>
              <a:t>customer demographics and travel patterns</a:t>
            </a:r>
            <a:endParaRPr lang="en-US" sz="2000" dirty="0"/>
          </a:p>
          <a:p>
            <a:pPr lvl="1"/>
            <a:r>
              <a:rPr lang="en-US" sz="2000" dirty="0"/>
              <a:t>No centralized platform to visualize </a:t>
            </a:r>
            <a:r>
              <a:rPr lang="en-US" sz="2000" b="1" dirty="0"/>
              <a:t>airline performance and booking channels</a:t>
            </a:r>
            <a:endParaRPr lang="en-US" sz="2000" dirty="0"/>
          </a:p>
          <a:p>
            <a:pPr lvl="1"/>
            <a:r>
              <a:rPr lang="en-US" sz="2000" dirty="0"/>
              <a:t>Decision makers need </a:t>
            </a:r>
            <a:r>
              <a:rPr lang="en-US" sz="2000" b="1" dirty="0"/>
              <a:t>quick and interactive insights</a:t>
            </a:r>
            <a:r>
              <a:rPr lang="en-US" sz="2000" dirty="0"/>
              <a:t> for better business strategies.</a:t>
            </a:r>
          </a:p>
          <a:p>
            <a:pPr lvl="1"/>
            <a:r>
              <a:rPr lang="en-US" sz="2000" dirty="0"/>
              <a:t>Therefore, a data visualization system is required to convert complex travel data into meaningful insights.</a:t>
            </a:r>
          </a:p>
          <a:p>
            <a:pPr marL="0" indent="0">
              <a:buNone/>
            </a:pP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33729142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27B4B1-584E-2479-D762-2265C7398D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191" y="603250"/>
            <a:ext cx="10515600" cy="1325563"/>
          </a:xfrm>
        </p:spPr>
        <p:txBody>
          <a:bodyPr lIns="91440" tIns="45720" rIns="91440" bIns="45720" anchor="t">
            <a:normAutofit/>
          </a:bodyPr>
          <a:lstStyle/>
          <a:p>
            <a:r>
              <a:rPr lang="en-US" sz="4000" b="1" cap="all">
                <a:latin typeface="Arial"/>
                <a:cs typeface="Arial"/>
              </a:rPr>
              <a:t>Proposed Solution: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67202D-4065-DDD7-98F1-4291C536D1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075" y="1304306"/>
            <a:ext cx="10515600" cy="4251960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en-US" sz="2000" dirty="0"/>
              <a:t>The proposed system is a </a:t>
            </a:r>
            <a:r>
              <a:rPr lang="en-US" sz="2000" b="1" dirty="0"/>
              <a:t>Travel Analytics Dashboard built using Microsoft Power BI</a:t>
            </a:r>
            <a:r>
              <a:rPr lang="en-US" sz="2000" dirty="0"/>
              <a:t>.</a:t>
            </a:r>
          </a:p>
          <a:p>
            <a:pPr marL="0" indent="0">
              <a:buNone/>
            </a:pPr>
            <a:r>
              <a:rPr lang="en-US" sz="2000" dirty="0"/>
              <a:t>The system collects travel booking data and converts it into </a:t>
            </a:r>
            <a:r>
              <a:rPr lang="en-US" sz="2000" b="1" dirty="0"/>
              <a:t>interactive visual reports</a:t>
            </a:r>
            <a:r>
              <a:rPr lang="en-US" sz="2000" dirty="0"/>
              <a:t>.</a:t>
            </a:r>
          </a:p>
          <a:p>
            <a:pPr marL="0" indent="0">
              <a:buNone/>
            </a:pPr>
            <a:r>
              <a:rPr lang="en-US" sz="2000" dirty="0"/>
              <a:t>Key features of the system include:</a:t>
            </a:r>
          </a:p>
          <a:p>
            <a:pPr lvl="1"/>
            <a:r>
              <a:rPr lang="en-US" sz="2000" dirty="0"/>
              <a:t>Visualization of </a:t>
            </a:r>
            <a:r>
              <a:rPr lang="en-US" sz="2000" b="1" dirty="0"/>
              <a:t>Total Bookings, Revenue, and Average Booking Value</a:t>
            </a:r>
            <a:endParaRPr lang="en-US" sz="2000" dirty="0"/>
          </a:p>
          <a:p>
            <a:pPr lvl="1"/>
            <a:r>
              <a:rPr lang="en-US" sz="2000" dirty="0"/>
              <a:t>Analysis of </a:t>
            </a:r>
            <a:r>
              <a:rPr lang="en-US" sz="2000" b="1" dirty="0"/>
              <a:t>Top Travel Destinations</a:t>
            </a:r>
            <a:endParaRPr lang="en-US" sz="2000" dirty="0"/>
          </a:p>
          <a:p>
            <a:pPr lvl="1"/>
            <a:r>
              <a:rPr lang="en-US" sz="2000" dirty="0"/>
              <a:t>Identification of </a:t>
            </a:r>
            <a:r>
              <a:rPr lang="en-US" sz="2000" b="1" dirty="0"/>
              <a:t>Most Used Airlines</a:t>
            </a:r>
            <a:endParaRPr lang="en-US" sz="2000" dirty="0"/>
          </a:p>
          <a:p>
            <a:pPr lvl="1"/>
            <a:r>
              <a:rPr lang="en-US" sz="2000" dirty="0"/>
              <a:t>Visualization of </a:t>
            </a:r>
            <a:r>
              <a:rPr lang="en-US" sz="2000" b="1" dirty="0"/>
              <a:t>Traveler Demographics</a:t>
            </a:r>
            <a:endParaRPr lang="en-US" sz="2000" dirty="0"/>
          </a:p>
          <a:p>
            <a:pPr lvl="1"/>
            <a:r>
              <a:rPr lang="en-US" sz="2000" dirty="0"/>
              <a:t>Tracking of </a:t>
            </a:r>
            <a:r>
              <a:rPr lang="en-US" sz="2000" b="1" dirty="0"/>
              <a:t>Monthly Booking Trends</a:t>
            </a:r>
            <a:endParaRPr lang="en-US" sz="2000" dirty="0"/>
          </a:p>
          <a:p>
            <a:pPr lvl="1"/>
            <a:r>
              <a:rPr lang="en-US" sz="2000" dirty="0"/>
              <a:t>Geographic visualization of bookings through </a:t>
            </a:r>
            <a:r>
              <a:rPr lang="en-US" sz="2000" b="1" dirty="0"/>
              <a:t>India Heatmap</a:t>
            </a:r>
            <a:endParaRPr lang="en-US" sz="2000" dirty="0"/>
          </a:p>
          <a:p>
            <a:pPr lvl="1"/>
            <a:r>
              <a:rPr lang="en-US" sz="2000" dirty="0"/>
              <a:t>Interactive filters such as </a:t>
            </a:r>
            <a:r>
              <a:rPr lang="en-US" sz="2000" b="1" dirty="0"/>
              <a:t>Date Range, Destination, and Traveler Type</a:t>
            </a:r>
            <a:endParaRPr lang="en-US" sz="2000" dirty="0"/>
          </a:p>
          <a:p>
            <a:pPr marL="0" indent="0">
              <a:buNone/>
            </a:pPr>
            <a:r>
              <a:rPr lang="en-US" sz="2000" dirty="0"/>
              <a:t>This dashboard helps business managers quickly understand travel trends and make data-driven decisions.</a:t>
            </a:r>
          </a:p>
          <a:p>
            <a:pPr marL="0" indent="0">
              <a:spcBef>
                <a:spcPct val="20000"/>
              </a:spcBef>
              <a:spcAft>
                <a:spcPts val="600"/>
              </a:spcAft>
              <a:buNone/>
            </a:pP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041396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292D15-41B4-89C1-0EA3-03BC9FA16F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548" y="699528"/>
            <a:ext cx="10515600" cy="1325563"/>
          </a:xfrm>
        </p:spPr>
        <p:txBody>
          <a:bodyPr lIns="91440" tIns="45720" rIns="91440" bIns="45720" anchor="t">
            <a:normAutofit/>
          </a:bodyPr>
          <a:lstStyle/>
          <a:p>
            <a:r>
              <a:rPr lang="en-US" sz="4000" b="1" cap="all">
                <a:latin typeface="Arial"/>
                <a:cs typeface="Arial"/>
              </a:rPr>
              <a:t>System  Approach: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07E8EE-7F26-D809-3523-C58876935A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410" y="1333499"/>
            <a:ext cx="4191000" cy="4702629"/>
          </a:xfrm>
        </p:spPr>
        <p:txBody>
          <a:bodyPr vert="horz" lIns="91440" tIns="45720" rIns="91440" bIns="45720" rtlCol="0">
            <a:noAutofit/>
          </a:bodyPr>
          <a:lstStyle/>
          <a:p>
            <a:pPr marL="0" indent="0">
              <a:buNone/>
            </a:pPr>
            <a:r>
              <a:rPr lang="en-IN" sz="1600" dirty="0"/>
              <a:t>The system is developed using the following technologies:</a:t>
            </a:r>
          </a:p>
          <a:p>
            <a:pPr marL="0" indent="0">
              <a:buNone/>
            </a:pPr>
            <a:r>
              <a:rPr lang="en-IN" sz="1600" b="1" dirty="0"/>
              <a:t>1. Data Source</a:t>
            </a:r>
            <a:endParaRPr lang="en-IN" sz="1600" dirty="0"/>
          </a:p>
          <a:p>
            <a:pPr lvl="1"/>
            <a:r>
              <a:rPr lang="en-IN" sz="1200" dirty="0"/>
              <a:t>CSV dataset containing travel booking information</a:t>
            </a:r>
          </a:p>
          <a:p>
            <a:pPr marL="0" indent="0">
              <a:buNone/>
            </a:pPr>
            <a:r>
              <a:rPr lang="en-IN" sz="1600" b="1" dirty="0"/>
              <a:t>2. Data Processing Tool</a:t>
            </a:r>
            <a:endParaRPr lang="en-IN" sz="1600" dirty="0"/>
          </a:p>
          <a:p>
            <a:pPr lvl="1"/>
            <a:r>
              <a:rPr lang="en-IN" sz="1200" dirty="0"/>
              <a:t>Microsoft Power BI Desktop</a:t>
            </a:r>
          </a:p>
          <a:p>
            <a:pPr marL="0" indent="0">
              <a:buNone/>
            </a:pPr>
            <a:r>
              <a:rPr lang="en-IN" sz="1600" b="1" dirty="0"/>
              <a:t>3. Data Fields Used                                                               </a:t>
            </a:r>
            <a:endParaRPr lang="en-IN" sz="1600" dirty="0"/>
          </a:p>
          <a:p>
            <a:pPr lvl="1"/>
            <a:r>
              <a:rPr lang="en-IN" sz="1200" dirty="0"/>
              <a:t>Booking ID</a:t>
            </a:r>
          </a:p>
          <a:p>
            <a:pPr lvl="1"/>
            <a:r>
              <a:rPr lang="en-IN" sz="1200" dirty="0"/>
              <a:t>Booking Date</a:t>
            </a:r>
          </a:p>
          <a:p>
            <a:pPr lvl="1"/>
            <a:r>
              <a:rPr lang="en-IN" sz="1200" dirty="0"/>
              <a:t>Destination</a:t>
            </a:r>
          </a:p>
          <a:p>
            <a:pPr lvl="1"/>
            <a:r>
              <a:rPr lang="en-IN" sz="1200" dirty="0"/>
              <a:t>State</a:t>
            </a:r>
          </a:p>
          <a:p>
            <a:pPr lvl="1"/>
            <a:r>
              <a:rPr lang="en-IN" sz="1200" dirty="0"/>
              <a:t>Airline</a:t>
            </a:r>
          </a:p>
          <a:p>
            <a:pPr lvl="1"/>
            <a:r>
              <a:rPr lang="en-IN" sz="1200" dirty="0"/>
              <a:t>Traveler Type</a:t>
            </a:r>
          </a:p>
          <a:p>
            <a:pPr lvl="1"/>
            <a:r>
              <a:rPr lang="en-IN" sz="1200" dirty="0"/>
              <a:t>Booking Channel</a:t>
            </a:r>
          </a:p>
          <a:p>
            <a:pPr lvl="1"/>
            <a:r>
              <a:rPr lang="en-IN" sz="1200" dirty="0"/>
              <a:t>Booking Value</a:t>
            </a:r>
          </a:p>
          <a:p>
            <a:pPr lvl="1"/>
            <a:r>
              <a:rPr lang="en-IN" sz="1200" dirty="0"/>
              <a:t>Customer Rating</a:t>
            </a:r>
          </a:p>
          <a:p>
            <a:pPr marL="0" indent="0">
              <a:spcBef>
                <a:spcPct val="20000"/>
              </a:spcBef>
              <a:spcAft>
                <a:spcPts val="600"/>
              </a:spcAft>
              <a:buNone/>
            </a:pPr>
            <a:endParaRPr lang="en-GB" sz="1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0F250E-DA44-D454-630A-CFFCEA8E9A66}"/>
              </a:ext>
            </a:extLst>
          </p:cNvPr>
          <p:cNvSpPr txBox="1"/>
          <p:nvPr/>
        </p:nvSpPr>
        <p:spPr>
          <a:xfrm>
            <a:off x="277586" y="5312853"/>
            <a:ext cx="419100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/>
              <a:t>4. Visualization Components</a:t>
            </a:r>
            <a:endParaRPr lang="en-IN" sz="1600" dirty="0"/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IN" sz="1200" dirty="0"/>
              <a:t>KPI Cards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IN" sz="1200" dirty="0"/>
              <a:t>Line Charts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IN" sz="1200" dirty="0"/>
              <a:t>Bar Charts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IN" sz="1200" dirty="0"/>
              <a:t>Pie Charts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IN" sz="1200" dirty="0"/>
              <a:t>Map Visualization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IN" sz="1200" dirty="0"/>
              <a:t>Slicers (Filters)</a:t>
            </a:r>
          </a:p>
        </p:txBody>
      </p:sp>
    </p:spTree>
    <p:extLst>
      <p:ext uri="{BB962C8B-B14F-4D97-AF65-F5344CB8AC3E}">
        <p14:creationId xmlns:p14="http://schemas.microsoft.com/office/powerpoint/2010/main" val="35011251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3DBEE6-616C-2711-86DB-C62E77D17F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191" y="686594"/>
            <a:ext cx="10515600" cy="1325563"/>
          </a:xfrm>
        </p:spPr>
        <p:txBody>
          <a:bodyPr lIns="91440" tIns="45720" rIns="91440" bIns="45720" anchor="t">
            <a:normAutofit/>
          </a:bodyPr>
          <a:lstStyle/>
          <a:p>
            <a:r>
              <a:rPr lang="en-US" sz="4000" b="1" cap="all">
                <a:latin typeface="Arial"/>
                <a:cs typeface="Arial"/>
              </a:rPr>
              <a:t>Algorithm &amp; Deployment: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107410-DE3D-5F62-F9D7-11EAEA92F0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6700" y="1338943"/>
            <a:ext cx="10515600" cy="5339443"/>
          </a:xfrm>
        </p:spPr>
        <p:txBody>
          <a:bodyPr vert="horz" lIns="91440" tIns="45720" rIns="91440" bIns="45720" rtlCol="0">
            <a:normAutofit fontScale="85000" lnSpcReduction="20000"/>
          </a:bodyPr>
          <a:lstStyle/>
          <a:p>
            <a:pPr marL="0" indent="0">
              <a:buNone/>
            </a:pPr>
            <a:r>
              <a:rPr lang="en-US" sz="2200" dirty="0"/>
              <a:t>The development of the dashboard follows these steps:</a:t>
            </a:r>
          </a:p>
          <a:p>
            <a:pPr marL="0" indent="0">
              <a:buNone/>
            </a:pPr>
            <a:r>
              <a:rPr lang="en-US" sz="2200" b="1" dirty="0"/>
              <a:t>Step 1 – Data Collection</a:t>
            </a:r>
            <a:br>
              <a:rPr lang="en-US" sz="2200" dirty="0"/>
            </a:br>
            <a:r>
              <a:rPr lang="en-US" sz="2200" dirty="0"/>
              <a:t>	</a:t>
            </a:r>
            <a:r>
              <a:rPr lang="en-US" sz="1600" dirty="0"/>
              <a:t>Generate or collect travel booking dataset.</a:t>
            </a:r>
          </a:p>
          <a:p>
            <a:pPr marL="0" indent="0">
              <a:buNone/>
            </a:pPr>
            <a:r>
              <a:rPr lang="en-US" sz="2200" b="1" dirty="0"/>
              <a:t>Step 2 – Data Import</a:t>
            </a:r>
            <a:br>
              <a:rPr lang="en-US" sz="2200" dirty="0"/>
            </a:br>
            <a:r>
              <a:rPr lang="en-US" sz="2200" dirty="0"/>
              <a:t>	</a:t>
            </a:r>
            <a:r>
              <a:rPr lang="en-US" sz="1600" dirty="0"/>
              <a:t>Import the dataset into Power BI.</a:t>
            </a:r>
          </a:p>
          <a:p>
            <a:pPr marL="0" indent="0">
              <a:buNone/>
            </a:pPr>
            <a:r>
              <a:rPr lang="en-US" sz="2200" b="1" dirty="0"/>
              <a:t>Step 3 – Data Cleaning</a:t>
            </a:r>
            <a:br>
              <a:rPr lang="en-US" sz="2200" dirty="0"/>
            </a:br>
            <a:r>
              <a:rPr lang="en-US" sz="2200" dirty="0"/>
              <a:t>	</a:t>
            </a:r>
            <a:r>
              <a:rPr lang="en-US" sz="1600" dirty="0"/>
              <a:t>Use Power Query to remove errors, duplicates, and format data.</a:t>
            </a:r>
          </a:p>
          <a:p>
            <a:pPr marL="0" indent="0">
              <a:buNone/>
            </a:pPr>
            <a:r>
              <a:rPr lang="en-US" sz="2200" b="1" dirty="0"/>
              <a:t>Step 4 – Data Modeling</a:t>
            </a:r>
            <a:br>
              <a:rPr lang="en-US" sz="2200" dirty="0"/>
            </a:br>
            <a:r>
              <a:rPr lang="en-US" sz="1600" dirty="0"/>
              <a:t>Create relationships and calculated measures such as:</a:t>
            </a:r>
          </a:p>
          <a:p>
            <a:pPr lvl="1"/>
            <a:r>
              <a:rPr lang="en-US" sz="1600" dirty="0"/>
              <a:t>Total Bookings</a:t>
            </a:r>
          </a:p>
          <a:p>
            <a:pPr lvl="1"/>
            <a:r>
              <a:rPr lang="en-US" sz="1600" dirty="0"/>
              <a:t>Total Revenue</a:t>
            </a:r>
          </a:p>
          <a:p>
            <a:pPr lvl="1"/>
            <a:r>
              <a:rPr lang="en-US" sz="1600" dirty="0"/>
              <a:t>Average Booking Value</a:t>
            </a:r>
          </a:p>
          <a:p>
            <a:pPr marL="0" indent="0">
              <a:buNone/>
            </a:pPr>
            <a:r>
              <a:rPr lang="en-US" sz="2200" b="1" dirty="0"/>
              <a:t>Step 5 – Visualization Design</a:t>
            </a:r>
            <a:br>
              <a:rPr lang="en-US" sz="2200" dirty="0"/>
            </a:br>
            <a:r>
              <a:rPr lang="en-US" sz="1600" dirty="0"/>
              <a:t>Create dashboard visuals such as:</a:t>
            </a:r>
          </a:p>
          <a:p>
            <a:pPr lvl="1"/>
            <a:r>
              <a:rPr lang="en-US" sz="1600" dirty="0"/>
              <a:t>Booking Trend Chart</a:t>
            </a:r>
          </a:p>
          <a:p>
            <a:pPr lvl="1"/>
            <a:r>
              <a:rPr lang="en-US" sz="1600" dirty="0"/>
              <a:t>Top Destinations Chart</a:t>
            </a:r>
          </a:p>
          <a:p>
            <a:pPr lvl="1"/>
            <a:r>
              <a:rPr lang="en-US" sz="1600" dirty="0"/>
              <a:t>Traveler Demographics Pie Chart</a:t>
            </a:r>
          </a:p>
          <a:p>
            <a:pPr lvl="1"/>
            <a:r>
              <a:rPr lang="en-US" sz="1600" dirty="0"/>
              <a:t>India Booking Heatmap</a:t>
            </a:r>
          </a:p>
          <a:p>
            <a:pPr lvl="1"/>
            <a:r>
              <a:rPr lang="en-US" sz="1600" dirty="0"/>
              <a:t>Top Airlines Chart</a:t>
            </a:r>
          </a:p>
          <a:p>
            <a:pPr marL="0" indent="0">
              <a:buNone/>
            </a:pPr>
            <a:r>
              <a:rPr lang="en-US" sz="2200" b="1" dirty="0"/>
              <a:t>Step 6 – Deployment</a:t>
            </a:r>
            <a:br>
              <a:rPr lang="en-US" sz="2200" dirty="0"/>
            </a:br>
            <a:r>
              <a:rPr lang="en-US" sz="2200" dirty="0"/>
              <a:t>	</a:t>
            </a:r>
            <a:r>
              <a:rPr lang="en-US" sz="1600" dirty="0"/>
              <a:t>Publish the dashboard for users to analyze travel business performance.</a:t>
            </a:r>
          </a:p>
          <a:p>
            <a:pPr marL="0" indent="0">
              <a:spcBef>
                <a:spcPct val="20000"/>
              </a:spcBef>
              <a:spcAft>
                <a:spcPts val="600"/>
              </a:spcAft>
              <a:buNone/>
            </a:pPr>
            <a:endParaRPr lang="en-GB" sz="1500" dirty="0"/>
          </a:p>
        </p:txBody>
      </p:sp>
    </p:spTree>
    <p:extLst>
      <p:ext uri="{BB962C8B-B14F-4D97-AF65-F5344CB8AC3E}">
        <p14:creationId xmlns:p14="http://schemas.microsoft.com/office/powerpoint/2010/main" val="11990843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8F756E-D4E1-5A9A-636A-7FA06EC394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191" y="603250"/>
            <a:ext cx="10515600" cy="1325563"/>
          </a:xfrm>
        </p:spPr>
        <p:txBody>
          <a:bodyPr lIns="91440" tIns="45720" rIns="91440" bIns="45720" anchor="t">
            <a:normAutofit/>
          </a:bodyPr>
          <a:lstStyle/>
          <a:p>
            <a:r>
              <a:rPr lang="en-US" sz="4000" b="1" cap="all">
                <a:latin typeface="Arial"/>
                <a:cs typeface="Arial"/>
              </a:rPr>
              <a:t>Result:</a:t>
            </a:r>
            <a:endParaRPr lang="en-US" sz="40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77A1F55-81E4-D5E8-B1A0-93A2F97C43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7444" y="1584325"/>
            <a:ext cx="6376987" cy="4251325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6124919-ED56-CE3F-BB5D-E0F6B090C5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7444" y="734786"/>
            <a:ext cx="8833756" cy="5889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7425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B396BB-D4E8-514D-53F4-27AADA666C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548" y="606334"/>
            <a:ext cx="10515600" cy="1325563"/>
          </a:xfrm>
        </p:spPr>
        <p:txBody>
          <a:bodyPr lIns="91440" tIns="45720" rIns="91440" bIns="45720" anchor="t">
            <a:normAutofit/>
          </a:bodyPr>
          <a:lstStyle/>
          <a:p>
            <a:r>
              <a:rPr lang="en-US" sz="4000" b="1" cap="all">
                <a:latin typeface="Arial"/>
                <a:cs typeface="Arial"/>
              </a:rPr>
              <a:t>Conclusion: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789DDB-698E-B624-5621-F9D79482FF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2589" y="1622391"/>
            <a:ext cx="10515600" cy="4251960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2400" dirty="0"/>
              <a:t>The MakeMyTrip Travel Analytics Dashboard provides a powerful way to analyze travel booking data.</a:t>
            </a:r>
          </a:p>
          <a:p>
            <a:pPr marL="0" indent="0">
              <a:buNone/>
            </a:pPr>
            <a:r>
              <a:rPr lang="en-US" sz="2400" dirty="0"/>
              <a:t>The system converts large amounts of raw data into clear visual insights.</a:t>
            </a:r>
          </a:p>
          <a:p>
            <a:pPr marL="0" indent="0">
              <a:buNone/>
            </a:pPr>
            <a:r>
              <a:rPr lang="en-US" sz="2400" dirty="0"/>
              <a:t>Benefits of the system include:</a:t>
            </a:r>
          </a:p>
          <a:p>
            <a:pPr lvl="1"/>
            <a:r>
              <a:rPr lang="en-US" sz="2000" dirty="0"/>
              <a:t>Improved business decision making</a:t>
            </a:r>
          </a:p>
          <a:p>
            <a:pPr lvl="1"/>
            <a:r>
              <a:rPr lang="en-US" sz="2000" dirty="0"/>
              <a:t>Easy monitoring of booking trends</a:t>
            </a:r>
          </a:p>
          <a:p>
            <a:pPr lvl="1"/>
            <a:r>
              <a:rPr lang="en-US" sz="2000" dirty="0"/>
              <a:t>Identification of popular destinations and airlines</a:t>
            </a:r>
          </a:p>
          <a:p>
            <a:pPr lvl="1"/>
            <a:r>
              <a:rPr lang="en-US" sz="2000" dirty="0"/>
              <a:t>Better understanding of customer travel behavior</a:t>
            </a:r>
          </a:p>
          <a:p>
            <a:pPr marL="0" indent="0">
              <a:buNone/>
            </a:pPr>
            <a:r>
              <a:rPr lang="en-US" sz="2400" dirty="0"/>
              <a:t>Power BI makes it possible to analyze big datasets efficiently through interactive dashboards.</a:t>
            </a:r>
          </a:p>
          <a:p>
            <a:pPr marL="0" indent="0">
              <a:buNone/>
            </a:pP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22453096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D403C0-6D6C-CF0D-D01B-94F3DED1DC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548" y="606334"/>
            <a:ext cx="10515600" cy="1325563"/>
          </a:xfrm>
        </p:spPr>
        <p:txBody>
          <a:bodyPr lIns="91440" tIns="45720" rIns="91440" bIns="45720" anchor="t">
            <a:normAutofit/>
          </a:bodyPr>
          <a:lstStyle/>
          <a:p>
            <a:r>
              <a:rPr lang="en-US" sz="4000" b="1" cap="all">
                <a:latin typeface="Arial"/>
                <a:cs typeface="Arial"/>
              </a:rPr>
              <a:t>Future scope: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2C79AB-5BF9-3911-CAE8-5E44B0DF22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8071" y="1304434"/>
            <a:ext cx="10515600" cy="4251960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spcBef>
                <a:spcPct val="20000"/>
              </a:spcBef>
              <a:spcAft>
                <a:spcPts val="600"/>
              </a:spcAft>
              <a:buNone/>
            </a:pPr>
            <a:endParaRPr lang="en-US" sz="2200" dirty="0">
              <a:latin typeface="Franklin Gothic Book"/>
            </a:endParaRPr>
          </a:p>
          <a:p>
            <a:pPr marL="0" indent="0">
              <a:buNone/>
            </a:pPr>
            <a:r>
              <a:rPr lang="en-US" sz="2400" dirty="0"/>
              <a:t>The system can be further improved by adding the following features:</a:t>
            </a:r>
          </a:p>
          <a:p>
            <a:pPr lvl="1"/>
            <a:r>
              <a:rPr lang="en-US" sz="2000" dirty="0"/>
              <a:t>Integration with </a:t>
            </a:r>
            <a:r>
              <a:rPr lang="en-US" sz="2000" b="1" dirty="0"/>
              <a:t>real-time travel booking systems</a:t>
            </a:r>
            <a:endParaRPr lang="en-US" sz="2000" dirty="0"/>
          </a:p>
          <a:p>
            <a:pPr lvl="1"/>
            <a:r>
              <a:rPr lang="en-US" sz="2000" dirty="0"/>
              <a:t>Implementation of </a:t>
            </a:r>
            <a:r>
              <a:rPr lang="en-US" sz="2000" b="1" dirty="0"/>
              <a:t>machine learning for demand prediction</a:t>
            </a:r>
            <a:endParaRPr lang="en-US" sz="2000" dirty="0"/>
          </a:p>
          <a:p>
            <a:pPr lvl="1"/>
            <a:r>
              <a:rPr lang="en-US" sz="2000" dirty="0"/>
              <a:t>Addition of </a:t>
            </a:r>
            <a:r>
              <a:rPr lang="en-US" sz="2000" b="1" dirty="0"/>
              <a:t>hotel and holiday package analytics</a:t>
            </a:r>
            <a:endParaRPr lang="en-US" sz="2000" dirty="0"/>
          </a:p>
          <a:p>
            <a:pPr lvl="1"/>
            <a:r>
              <a:rPr lang="en-US" sz="2000" dirty="0"/>
              <a:t>Mobile dashboard access through </a:t>
            </a:r>
            <a:r>
              <a:rPr lang="en-US" sz="2000" b="1" dirty="0"/>
              <a:t>Power BI Service</a:t>
            </a:r>
            <a:endParaRPr lang="en-US" sz="2000" dirty="0"/>
          </a:p>
          <a:p>
            <a:pPr lvl="1"/>
            <a:r>
              <a:rPr lang="en-US" sz="2000" dirty="0"/>
              <a:t>Integration with </a:t>
            </a:r>
            <a:r>
              <a:rPr lang="en-US" sz="2000" b="1" dirty="0"/>
              <a:t>cloud platforms like AWS or Azure</a:t>
            </a:r>
            <a:endParaRPr lang="en-US" sz="2000" dirty="0"/>
          </a:p>
          <a:p>
            <a:pPr marL="0" indent="0">
              <a:buNone/>
            </a:pPr>
            <a:endParaRPr lang="en-GB" sz="2200" dirty="0"/>
          </a:p>
        </p:txBody>
      </p:sp>
    </p:spTree>
    <p:extLst>
      <p:ext uri="{BB962C8B-B14F-4D97-AF65-F5344CB8AC3E}">
        <p14:creationId xmlns:p14="http://schemas.microsoft.com/office/powerpoint/2010/main" val="37441996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B16E122-C4E2-8D18-1B83-474848DA38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D7A931-24B2-AD91-EC96-DA2E38E31E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548" y="606334"/>
            <a:ext cx="10515600" cy="1325563"/>
          </a:xfrm>
        </p:spPr>
        <p:txBody>
          <a:bodyPr lIns="91440" tIns="45720" rIns="91440" bIns="45720" anchor="t">
            <a:normAutofit/>
          </a:bodyPr>
          <a:lstStyle/>
          <a:p>
            <a:r>
              <a:rPr lang="en-US" sz="4000" b="1" cap="all" dirty="0">
                <a:latin typeface="Arial"/>
                <a:cs typeface="Arial"/>
              </a:rPr>
              <a:t>References: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919428-FEC2-103A-9057-45E1E5CE25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6804" y="1551125"/>
            <a:ext cx="10052096" cy="425196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457200" indent="-457200">
              <a:buAutoNum type="arabicPeriod"/>
            </a:pPr>
            <a:r>
              <a:rPr lang="en-IN" sz="2400" dirty="0"/>
              <a:t>Microsoft Power BI Documentation</a:t>
            </a:r>
          </a:p>
          <a:p>
            <a:pPr marL="457200" indent="-457200">
              <a:buAutoNum type="arabicPeriod"/>
            </a:pPr>
            <a:r>
              <a:rPr lang="en-US" sz="2400" dirty="0"/>
              <a:t>Microsoft Learn – Power BI Tutorials</a:t>
            </a:r>
          </a:p>
          <a:p>
            <a:pPr marL="457200" indent="-457200">
              <a:buAutoNum type="arabicPeriod"/>
            </a:pPr>
            <a:r>
              <a:rPr lang="en-IN" sz="2400" dirty="0"/>
              <a:t>MakeMyTrip Travel Industry Reports</a:t>
            </a:r>
          </a:p>
          <a:p>
            <a:pPr marL="457200" indent="-457200">
              <a:buAutoNum type="arabicPeriod"/>
            </a:pPr>
            <a:r>
              <a:rPr lang="en-IN" sz="2400" dirty="0"/>
              <a:t>Data Visualization Best Practices</a:t>
            </a:r>
          </a:p>
          <a:p>
            <a:pPr marL="457200" indent="-457200">
              <a:buAutoNum type="arabicPeriod"/>
            </a:pPr>
            <a:r>
              <a:rPr lang="en-US" sz="2400" dirty="0"/>
              <a:t>Online resources for Power BI Dashboard Development</a:t>
            </a:r>
          </a:p>
          <a:p>
            <a:pPr marL="0" indent="0">
              <a:buNone/>
            </a:pPr>
            <a:endParaRPr lang="en-IN" sz="2200" dirty="0">
              <a:latin typeface="Franklin Gothic Book"/>
            </a:endParaRPr>
          </a:p>
          <a:p>
            <a:pPr marL="0" indent="0">
              <a:buNone/>
            </a:pPr>
            <a:r>
              <a:rPr lang="en-IN" sz="2200" dirty="0">
                <a:latin typeface="Franklin Gothic Book"/>
              </a:rPr>
              <a:t>GitHub Link:</a:t>
            </a:r>
            <a:r>
              <a:rPr lang="en-IN" sz="2200" dirty="0">
                <a:solidFill>
                  <a:srgbClr val="0070C0"/>
                </a:solidFill>
                <a:latin typeface="Franklin Gothic Book"/>
              </a:rPr>
              <a:t> </a:t>
            </a:r>
            <a:r>
              <a:rPr lang="en-IN" sz="2000" dirty="0" err="1">
                <a:solidFill>
                  <a:srgbClr val="0070C0"/>
                </a:solidFill>
                <a:latin typeface="Franklin Gothic Book"/>
                <a:hlinkClick r:id="rId2"/>
              </a:rPr>
              <a:t>OnkarLondhe</a:t>
            </a:r>
            <a:r>
              <a:rPr lang="en-IN" sz="2000" dirty="0">
                <a:solidFill>
                  <a:srgbClr val="0070C0"/>
                </a:solidFill>
                <a:latin typeface="Franklin Gothic Book"/>
                <a:hlinkClick r:id="rId2"/>
              </a:rPr>
              <a:t>-MS-Elevate-AICTE-Internship---Power-BI-Project---Feb-2026</a:t>
            </a:r>
            <a:endParaRPr lang="en-IN" sz="2000" u="sng" dirty="0">
              <a:solidFill>
                <a:srgbClr val="0070C0"/>
              </a:solidFill>
              <a:latin typeface="Franklin Gothic Book"/>
            </a:endParaRPr>
          </a:p>
          <a:p>
            <a:pPr marL="0" indent="0">
              <a:buNone/>
            </a:pPr>
            <a:endParaRPr lang="en-IN" sz="2200" u="sng" dirty="0">
              <a:solidFill>
                <a:srgbClr val="0070C0"/>
              </a:solidFill>
              <a:latin typeface="Franklin Gothic Book"/>
            </a:endParaRPr>
          </a:p>
          <a:p>
            <a:pPr marL="0" indent="0">
              <a:buNone/>
            </a:pPr>
            <a:endParaRPr lang="en-IN" sz="2200" dirty="0">
              <a:latin typeface="Franklin Gothic Book"/>
            </a:endParaRPr>
          </a:p>
        </p:txBody>
      </p:sp>
    </p:spTree>
    <p:extLst>
      <p:ext uri="{BB962C8B-B14F-4D97-AF65-F5344CB8AC3E}">
        <p14:creationId xmlns:p14="http://schemas.microsoft.com/office/powerpoint/2010/main" val="5332878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143E5-DB51-E32C-9252-0ED5EF288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DE97B5AD-3B10-086C-32EF-8A2EAD5287C2}"/>
              </a:ext>
            </a:extLst>
          </p:cNvPr>
          <p:cNvSpPr txBox="1">
            <a:spLocks/>
          </p:cNvSpPr>
          <p:nvPr/>
        </p:nvSpPr>
        <p:spPr>
          <a:xfrm>
            <a:off x="314324" y="6312352"/>
            <a:ext cx="3724275" cy="295275"/>
          </a:xfrm>
          <a:prstGeom prst="rect">
            <a:avLst/>
          </a:prstGeom>
        </p:spPr>
        <p:txBody>
          <a:bodyPr/>
          <a:lstStyle>
            <a:lvl1pPr marL="228611" indent="-228611" algn="l" defTabSz="60963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1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5325" indent="-190510" algn="l" defTabSz="60963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62038" indent="-152408" algn="l" defTabSz="60963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66853" indent="-152408" algn="l" defTabSz="60963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69" indent="-152408" algn="l" defTabSz="60963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76484" indent="-152408" algn="l" defTabSz="60963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81299" indent="-152408" algn="l" defTabSz="60963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86114" indent="-152408" algn="l" defTabSz="60963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90930" indent="-152408" algn="l" defTabSz="60963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3736" indent="-173736">
              <a:buFont typeface="Arial" pitchFamily="34" charset="0"/>
              <a:buNone/>
            </a:pPr>
            <a:endParaRPr lang="en-US"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AFC7433E-E155-E68D-4C00-FCB38967C6F9}"/>
              </a:ext>
            </a:extLst>
          </p:cNvPr>
          <p:cNvSpPr txBox="1">
            <a:spLocks/>
          </p:cNvSpPr>
          <p:nvPr/>
        </p:nvSpPr>
        <p:spPr>
          <a:xfrm>
            <a:off x="3247621" y="3009471"/>
            <a:ext cx="5696757" cy="839057"/>
          </a:xfrm>
          <a:prstGeom prst="rect">
            <a:avLst/>
          </a:prstGeom>
        </p:spPr>
        <p:txBody>
          <a:bodyPr lIns="91440" tIns="45720" rIns="91440" bIns="45720" anchor="t"/>
          <a:lstStyle>
            <a:lvl1pPr algn="ctr" defTabSz="609630" rtl="0" eaLnBrk="1" latinLnBrk="0" hangingPunct="1">
              <a:spcBef>
                <a:spcPct val="0"/>
              </a:spcBef>
              <a:buNone/>
              <a:defRPr sz="2933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800" b="1" dirty="0">
                <a:solidFill>
                  <a:srgbClr val="002060"/>
                </a:solidFill>
                <a:latin typeface="Arial"/>
                <a:cs typeface="Arial"/>
              </a:rPr>
              <a:t>Thank You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54460203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DESIGN_ID_1_OFFICE THEME" val="TmdBxN3j"/>
  <p:tag name="ARTICULATE_PROJECT_OPEN" val="0"/>
  <p:tag name="ARTICULATE_SLIDE_COUNT" val="9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</TotalTime>
  <Words>634</Words>
  <Application>Microsoft Office PowerPoint</Application>
  <PresentationFormat>Widescreen</PresentationFormat>
  <Paragraphs>106</Paragraphs>
  <Slides>11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</vt:lpstr>
      <vt:lpstr>Arial</vt:lpstr>
      <vt:lpstr>Calibri</vt:lpstr>
      <vt:lpstr>Franklin Gothic Book</vt:lpstr>
      <vt:lpstr>1_Office Theme</vt:lpstr>
      <vt:lpstr>Custom Design</vt:lpstr>
      <vt:lpstr>PowerPoint Presentation</vt:lpstr>
      <vt:lpstr>OUTLINE:</vt:lpstr>
      <vt:lpstr>Problem Statement:</vt:lpstr>
      <vt:lpstr>Proposed Solution:</vt:lpstr>
      <vt:lpstr>System  Approach:</vt:lpstr>
      <vt:lpstr>Algorithm &amp; Deployment:</vt:lpstr>
      <vt:lpstr>Result:</vt:lpstr>
      <vt:lpstr>Conclusion:</vt:lpstr>
      <vt:lpstr>Future scope:</vt:lpstr>
      <vt:lpstr>References: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Vikrant Nath Nagar</dc:creator>
  <cp:lastModifiedBy>Onkar Londhe</cp:lastModifiedBy>
  <cp:revision>102</cp:revision>
  <dcterms:created xsi:type="dcterms:W3CDTF">2024-05-21T11:55:07Z</dcterms:created>
  <dcterms:modified xsi:type="dcterms:W3CDTF">2026-03-05T07:45:32Z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rticulateGUID">
    <vt:lpwstr>8775663C-0243-495A-BCAB-F653BDE41EC7</vt:lpwstr>
  </property>
  <property fmtid="{D5CDD505-2E9C-101B-9397-08002B2CF9AE}" pid="3" name="ArticulatePath">
    <vt:lpwstr>https://edunetfoundationorg-my.sharepoint.com/personal/kaisar_edunetfoundation_org/Documents/Beutified ppt/MSITI/Micro Degree/Content/Module 4 Data Science/PPT/1. Introduction to Data Science</vt:lpwstr>
  </property>
</Properties>
</file>