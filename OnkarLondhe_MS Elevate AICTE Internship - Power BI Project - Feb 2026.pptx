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</p:sldMasterIdLst>
  <p:notesMasterIdLst>
    <p:notesMasterId r:id="rId14"/>
  </p:notesMasterIdLst>
  <p:sldIdLst>
    <p:sldId id="256" r:id="rId3"/>
    <p:sldId id="571" r:id="rId4"/>
    <p:sldId id="572" r:id="rId5"/>
    <p:sldId id="573" r:id="rId6"/>
    <p:sldId id="574" r:id="rId7"/>
    <p:sldId id="575" r:id="rId8"/>
    <p:sldId id="576" r:id="rId9"/>
    <p:sldId id="577" r:id="rId10"/>
    <p:sldId id="579" r:id="rId11"/>
    <p:sldId id="580" r:id="rId12"/>
    <p:sldId id="53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orient="horz" pos="9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B9636B-3D94-EB3D-7CF5-3935240F8C9F}" name="Ramar Bose" initials="RB" userId="S::ramar@edunetfoundation.org::ae727035-80f4-46a2-9b41-59f778a1b49a" providerId="AD"/>
  <p188:author id="{D0A8B7BB-36D1-777B-64C8-9A30C894A727}" name="Rashmi Mishra" initials="RM" userId="S::rmishra@edunetfoundation.org::6469e6c3-66fa-4f4f-9c10-a71ac4161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A751"/>
    <a:srgbClr val="263570"/>
    <a:srgbClr val="4A9DE2"/>
    <a:srgbClr val="88BFEC"/>
    <a:srgbClr val="F9B1B1"/>
    <a:srgbClr val="B2DE82"/>
    <a:srgbClr val="F57373"/>
    <a:srgbClr val="F03434"/>
    <a:srgbClr val="BC7D00"/>
    <a:srgbClr val="FFB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73818" autoAdjust="0"/>
  </p:normalViewPr>
  <p:slideViewPr>
    <p:cSldViewPr snapToGrid="0">
      <p:cViewPr varScale="1">
        <p:scale>
          <a:sx n="88" d="100"/>
          <a:sy n="88" d="100"/>
        </p:scale>
        <p:origin x="228" y="81"/>
      </p:cViewPr>
      <p:guideLst>
        <p:guide orient="horz" pos="672"/>
        <p:guide pos="312"/>
        <p:guide orient="horz" pos="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gs" Target="tags/tag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699836-02B7-459A-AF64-A000817D576C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065E4E-ABE4-4C79-8716-B93932D5FB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133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266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8B07-5A8B-12D3-48D5-B8315D13C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B6700-05A0-7411-109E-A374569B6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8D759-B238-4D1C-A179-63DF885F6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31F17-191B-CFE4-28A8-DF229B949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68545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4062684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6909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4273-D1B2-B5DA-BF7E-9FF169DF6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EE723-48AC-C184-D51D-DB184D9E4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217C-58BE-CEDC-FE42-FFECCA16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FA99E-0146-4BD9-9E30-4EB71F3A4207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F67DFB-4595-5610-E73D-EA112439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5188B-8994-FE2D-E924-64F2FB541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81918-31C6-44C6-A382-2FA557A3F6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92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92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8856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7107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229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870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747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E36FD2-5CF9-42B6-267C-75A9A8826A1C}"/>
              </a:ext>
            </a:extLst>
          </p:cNvPr>
          <p:cNvSpPr/>
          <p:nvPr userDrawn="1"/>
        </p:nvSpPr>
        <p:spPr>
          <a:xfrm>
            <a:off x="0" y="0"/>
            <a:ext cx="10374086" cy="6604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F6CF07-40A9-24A4-F336-0BDA8D93267D}"/>
              </a:ext>
            </a:extLst>
          </p:cNvPr>
          <p:cNvSpPr/>
          <p:nvPr userDrawn="1"/>
        </p:nvSpPr>
        <p:spPr>
          <a:xfrm>
            <a:off x="0" y="6692900"/>
            <a:ext cx="12192000" cy="1651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28" name="Picture 4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66C649D9-DD8B-5B7D-F409-A3797AEF3D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05" y="91005"/>
            <a:ext cx="1466678" cy="47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7"/>
    </p:custDataLst>
    <p:extLst>
      <p:ext uri="{BB962C8B-B14F-4D97-AF65-F5344CB8AC3E}">
        <p14:creationId xmlns:p14="http://schemas.microsoft.com/office/powerpoint/2010/main" val="3478975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5" r:id="rId2"/>
    <p:sldLayoutId id="2147483666" r:id="rId3"/>
    <p:sldLayoutId id="2147483667" r:id="rId4"/>
    <p:sldLayoutId id="2147483668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5179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nkarlondhe1139/OnkarLondhe-MS-Elevate-AICTE-Internship---Power-BI-Project---Feb-2026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40A069D-B6C2-7B0A-6719-9C65A27E0952}"/>
              </a:ext>
            </a:extLst>
          </p:cNvPr>
          <p:cNvSpPr/>
          <p:nvPr/>
        </p:nvSpPr>
        <p:spPr>
          <a:xfrm>
            <a:off x="-32657" y="3429000"/>
            <a:ext cx="424543" cy="34290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C78EFA-3B33-383D-31A6-F48EC0533950}"/>
              </a:ext>
            </a:extLst>
          </p:cNvPr>
          <p:cNvSpPr/>
          <p:nvPr/>
        </p:nvSpPr>
        <p:spPr>
          <a:xfrm>
            <a:off x="0" y="0"/>
            <a:ext cx="228600" cy="34290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DD7732-9B23-40F7-1FF7-FD50BDC193D8}"/>
              </a:ext>
            </a:extLst>
          </p:cNvPr>
          <p:cNvSpPr/>
          <p:nvPr/>
        </p:nvSpPr>
        <p:spPr>
          <a:xfrm>
            <a:off x="7913913" y="0"/>
            <a:ext cx="4985657" cy="315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DA2A85-6D5C-2987-0FF8-3AF240456D3B}"/>
              </a:ext>
            </a:extLst>
          </p:cNvPr>
          <p:cNvSpPr/>
          <p:nvPr/>
        </p:nvSpPr>
        <p:spPr>
          <a:xfrm>
            <a:off x="-32657" y="6509659"/>
            <a:ext cx="12888684" cy="348341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4D362339-2CD4-BEA9-8BCD-81A300A3C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04" y="316620"/>
            <a:ext cx="1725854" cy="56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1999" cy="68573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F837936-4230-3A98-A2A1-6E77E027B36D}"/>
              </a:ext>
            </a:extLst>
          </p:cNvPr>
          <p:cNvSpPr>
            <a:spLocks noGrp="1"/>
          </p:cNvSpPr>
          <p:nvPr/>
        </p:nvSpPr>
        <p:spPr>
          <a:xfrm>
            <a:off x="517379" y="1343054"/>
            <a:ext cx="4746772" cy="257036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b="1" kern="1200" dirty="0">
                <a:latin typeface="+mj-lt"/>
                <a:ea typeface="+mj-ea"/>
                <a:cs typeface="+mj-cs"/>
              </a:rPr>
              <a:t>CAPSTONE </a:t>
            </a:r>
            <a:r>
              <a:rPr lang="en-US" sz="2800" b="1" dirty="0"/>
              <a:t>PROJECT</a:t>
            </a:r>
            <a:endParaRPr lang="en-US" sz="5100" dirty="0">
              <a:latin typeface="Aptos"/>
            </a:endParaRPr>
          </a:p>
          <a:p>
            <a:pPr algn="l"/>
            <a:br>
              <a:rPr lang="en-US" sz="5100" b="1" dirty="0"/>
            </a:br>
            <a:r>
              <a:rPr lang="en-IN" sz="5200" b="1" dirty="0">
                <a:latin typeface="+mn-lt"/>
              </a:rPr>
              <a:t>MakeMyTrip Travel Analytics </a:t>
            </a:r>
          </a:p>
          <a:p>
            <a:pPr algn="l"/>
            <a:r>
              <a:rPr lang="en-IN" sz="5200" b="1" dirty="0">
                <a:latin typeface="+mn-lt"/>
              </a:rPr>
              <a:t>Dashboard Using Power BI</a:t>
            </a:r>
            <a:endParaRPr lang="en-US" sz="5200" b="1" dirty="0">
              <a:latin typeface="+mn-lt"/>
            </a:endParaRPr>
          </a:p>
          <a:p>
            <a:pPr algn="l"/>
            <a:endParaRPr lang="en-US" sz="5100" b="1" kern="1200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A663A0C-3931-F8E6-391C-2FF1FDBB09CD}"/>
              </a:ext>
            </a:extLst>
          </p:cNvPr>
          <p:cNvSpPr>
            <a:spLocks noGrp="1"/>
          </p:cNvSpPr>
          <p:nvPr/>
        </p:nvSpPr>
        <p:spPr>
          <a:xfrm>
            <a:off x="594126" y="3739889"/>
            <a:ext cx="4021417" cy="23016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600"/>
              </a:spcAft>
            </a:pPr>
            <a:r>
              <a:rPr lang="en-US" sz="1600" b="1" cap="all" dirty="0"/>
              <a:t>Presented By</a:t>
            </a:r>
            <a:endParaRPr lang="en-US" sz="1600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Student Name: </a:t>
            </a:r>
            <a:r>
              <a:rPr lang="en-US" sz="1600" b="1" dirty="0"/>
              <a:t>Onkar Abhiman Londhe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College Name: </a:t>
            </a:r>
            <a:r>
              <a:rPr lang="en-US" sz="1600" b="1" cap="all" dirty="0" err="1"/>
              <a:t>s.b.</a:t>
            </a:r>
            <a:r>
              <a:rPr lang="en-US" sz="1600" b="1" cap="all" dirty="0"/>
              <a:t> P</a:t>
            </a:r>
            <a:r>
              <a:rPr lang="en-US" sz="1600" b="1" dirty="0"/>
              <a:t>atil </a:t>
            </a:r>
            <a:r>
              <a:rPr lang="en-IN" sz="1600" b="1" dirty="0"/>
              <a:t>college of Engineering Pune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Department: </a:t>
            </a:r>
            <a:r>
              <a:rPr lang="en-IN" sz="1600" b="1" cap="all" dirty="0"/>
              <a:t>C</a:t>
            </a:r>
            <a:r>
              <a:rPr lang="en-IN" sz="1600" b="1" dirty="0"/>
              <a:t>omputer Engineering </a:t>
            </a:r>
            <a:endParaRPr lang="en-US" sz="1600" b="1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Email ID: </a:t>
            </a:r>
            <a:r>
              <a:rPr lang="en-US" sz="1600" b="1" dirty="0"/>
              <a:t>onkarlondhe1139@gmail.com</a:t>
            </a:r>
            <a:endParaRPr lang="en-US" sz="1600" b="1" cap="all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288F3F-AD4C-81EA-1336-D2C00EFCC4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03787" y="963029"/>
            <a:ext cx="4203189" cy="49364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1033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E0E59-694D-9DFE-4488-37D5F2F48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881" y="5080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OUTLINE: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4173D-62A9-AF06-B476-EEB827087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715" y="1136428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Problem Statement </a:t>
            </a:r>
            <a:r>
              <a:rPr lang="en-US" sz="2200" dirty="0">
                <a:latin typeface="Arial"/>
                <a:cs typeface="Arial"/>
              </a:rPr>
              <a:t>(Should not include solution)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Proposed System/Solution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System Development Approach </a:t>
            </a:r>
            <a:r>
              <a:rPr lang="en-US" sz="2200" dirty="0">
                <a:latin typeface="Arial"/>
                <a:cs typeface="Arial"/>
              </a:rPr>
              <a:t>(Technology Used) 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Algorithm &amp; Deployment  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Result (Output Image)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Conclusion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Future Scope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References</a:t>
            </a:r>
            <a:endParaRPr lang="en-US" sz="2200" dirty="0">
              <a:latin typeface="Arial"/>
              <a:cs typeface="Arial"/>
            </a:endParaRPr>
          </a:p>
          <a:p>
            <a:endParaRPr lang="en-GB" sz="2200" dirty="0">
              <a:latin typeface="Aptos" panose="020B0004020202020204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17874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9B35C-A00A-C6C7-8532-576758ED4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1551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Problem Statement: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8C97F-5AC9-F1CA-3CCC-090D5B139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12" y="171507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000" dirty="0"/>
              <a:t>The travel industry generates a huge amount of booking data every day.</a:t>
            </a:r>
            <a:br>
              <a:rPr lang="en-US" sz="2000" dirty="0"/>
            </a:br>
            <a:r>
              <a:rPr lang="en-US" sz="2000" dirty="0"/>
              <a:t>However, raw data stored in spreadsheets or databases is difficult to analyze quickly.</a:t>
            </a:r>
          </a:p>
          <a:p>
            <a:pPr lvl="1"/>
            <a:r>
              <a:rPr lang="en-US" sz="2000" dirty="0"/>
              <a:t>Difficulty in tracking </a:t>
            </a:r>
            <a:r>
              <a:rPr lang="en-US" sz="2000" b="1" dirty="0"/>
              <a:t>total bookings and revenue</a:t>
            </a:r>
            <a:endParaRPr lang="en-US" sz="2000" dirty="0"/>
          </a:p>
          <a:p>
            <a:pPr lvl="1"/>
            <a:r>
              <a:rPr lang="en-US" sz="2000" dirty="0"/>
              <a:t>Lack of clear insights into </a:t>
            </a:r>
            <a:r>
              <a:rPr lang="en-US" sz="2000" b="1" dirty="0"/>
              <a:t>popular destinations</a:t>
            </a:r>
            <a:endParaRPr lang="en-US" sz="2000" dirty="0"/>
          </a:p>
          <a:p>
            <a:pPr lvl="1"/>
            <a:r>
              <a:rPr lang="en-US" sz="2000" dirty="0"/>
              <a:t>Travel companies face the following problems:</a:t>
            </a:r>
          </a:p>
          <a:p>
            <a:pPr lvl="1"/>
            <a:r>
              <a:rPr lang="en-US" sz="2000" dirty="0"/>
              <a:t>Hard to analyze </a:t>
            </a:r>
            <a:r>
              <a:rPr lang="en-US" sz="2000" b="1" dirty="0"/>
              <a:t>customer demographics and travel patterns</a:t>
            </a:r>
            <a:endParaRPr lang="en-US" sz="2000" dirty="0"/>
          </a:p>
          <a:p>
            <a:pPr lvl="1"/>
            <a:r>
              <a:rPr lang="en-US" sz="2000" dirty="0"/>
              <a:t>No centralized platform to visualize </a:t>
            </a:r>
            <a:r>
              <a:rPr lang="en-US" sz="2000" b="1" dirty="0"/>
              <a:t>airline performance and booking channels</a:t>
            </a:r>
            <a:endParaRPr lang="en-US" sz="2000" dirty="0"/>
          </a:p>
          <a:p>
            <a:pPr lvl="1"/>
            <a:r>
              <a:rPr lang="en-US" sz="2000" dirty="0"/>
              <a:t>Decision makers need </a:t>
            </a:r>
            <a:r>
              <a:rPr lang="en-US" sz="2000" b="1" dirty="0"/>
              <a:t>quick and interactive insights</a:t>
            </a:r>
            <a:r>
              <a:rPr lang="en-US" sz="2000" dirty="0"/>
              <a:t> for better business strategies.</a:t>
            </a:r>
          </a:p>
          <a:p>
            <a:pPr lvl="1"/>
            <a:r>
              <a:rPr lang="en-US" sz="2000" dirty="0"/>
              <a:t>Therefore, a data visualization system is required to convert complex travel data into meaningful insights.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372914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7B4B1-584E-2479-D762-2265C7398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5" y="698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Proposed Solution: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7202D-4065-DDD7-98F1-4291C536D1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075" y="1304306"/>
            <a:ext cx="10515600" cy="425196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dirty="0"/>
              <a:t>The proposed system is a </a:t>
            </a:r>
            <a:r>
              <a:rPr lang="en-US" sz="2000" b="1" dirty="0"/>
              <a:t>Travel Analytics Dashboard built using Microsoft Power BI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The system collects travel booking data and converts it into </a:t>
            </a:r>
            <a:r>
              <a:rPr lang="en-US" sz="2000" b="1" dirty="0"/>
              <a:t>interactive visual reports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dirty="0"/>
              <a:t>Key features of the system include:</a:t>
            </a:r>
          </a:p>
          <a:p>
            <a:pPr lvl="1"/>
            <a:r>
              <a:rPr lang="en-US" sz="2000" dirty="0"/>
              <a:t>Visualization of </a:t>
            </a:r>
            <a:r>
              <a:rPr lang="en-US" sz="2000" b="1" dirty="0"/>
              <a:t>Total Bookings, Revenue, and Average Booking Value</a:t>
            </a:r>
            <a:endParaRPr lang="en-US" sz="2000" dirty="0"/>
          </a:p>
          <a:p>
            <a:pPr lvl="1"/>
            <a:r>
              <a:rPr lang="en-US" sz="2000" dirty="0"/>
              <a:t>Analysis of </a:t>
            </a:r>
            <a:r>
              <a:rPr lang="en-US" sz="2000" b="1" dirty="0"/>
              <a:t>Top Travel Destinations</a:t>
            </a:r>
            <a:endParaRPr lang="en-US" sz="2000" dirty="0"/>
          </a:p>
          <a:p>
            <a:pPr lvl="1"/>
            <a:r>
              <a:rPr lang="en-US" sz="2000" dirty="0"/>
              <a:t>Identification of </a:t>
            </a:r>
            <a:r>
              <a:rPr lang="en-US" sz="2000" b="1" dirty="0"/>
              <a:t>Most Used Airlines</a:t>
            </a:r>
            <a:endParaRPr lang="en-US" sz="2000" dirty="0"/>
          </a:p>
          <a:p>
            <a:pPr lvl="1"/>
            <a:r>
              <a:rPr lang="en-US" sz="2000" dirty="0"/>
              <a:t>Visualization of </a:t>
            </a:r>
            <a:r>
              <a:rPr lang="en-US" sz="2000" b="1" dirty="0"/>
              <a:t>Traveler Demographics</a:t>
            </a:r>
            <a:endParaRPr lang="en-US" sz="2000" dirty="0"/>
          </a:p>
          <a:p>
            <a:pPr lvl="1"/>
            <a:r>
              <a:rPr lang="en-US" sz="2000" dirty="0"/>
              <a:t>Tracking of </a:t>
            </a:r>
            <a:r>
              <a:rPr lang="en-US" sz="2000" b="1" dirty="0"/>
              <a:t>Monthly Booking Trends</a:t>
            </a:r>
            <a:endParaRPr lang="en-US" sz="2000" dirty="0"/>
          </a:p>
          <a:p>
            <a:pPr lvl="1"/>
            <a:r>
              <a:rPr lang="en-US" sz="2000" dirty="0"/>
              <a:t>Geographic visualization of bookings through </a:t>
            </a:r>
            <a:r>
              <a:rPr lang="en-US" sz="2000" b="1" dirty="0"/>
              <a:t>India Heatmap</a:t>
            </a:r>
            <a:endParaRPr lang="en-US" sz="2000" dirty="0"/>
          </a:p>
          <a:p>
            <a:pPr lvl="1"/>
            <a:r>
              <a:rPr lang="en-US" sz="2000" dirty="0"/>
              <a:t>Interactive filters such as </a:t>
            </a:r>
            <a:r>
              <a:rPr lang="en-US" sz="2000" b="1" dirty="0"/>
              <a:t>Date Range, Destination, and Traveler Type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This dashboard helps business managers quickly understand travel trends and make data-driven decisions.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04139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92D15-41B4-89C1-0EA3-03BC9FA16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81" y="51479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System  Approach: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7E8EE-7F26-D809-3523-C58876935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586" y="814019"/>
            <a:ext cx="4191000" cy="5061857"/>
          </a:xfrm>
        </p:spPr>
        <p:txBody>
          <a:bodyPr vert="horz" lIns="91440" tIns="45720" rIns="91440" bIns="45720" rtlCol="0">
            <a:noAutofit/>
          </a:bodyPr>
          <a:lstStyle/>
          <a:p>
            <a:pPr marL="0" indent="0">
              <a:buNone/>
            </a:pPr>
            <a:r>
              <a:rPr lang="en-IN" sz="1600" dirty="0"/>
              <a:t>The system is developed using the following technologies:</a:t>
            </a:r>
          </a:p>
          <a:p>
            <a:pPr marL="0" indent="0">
              <a:buNone/>
            </a:pPr>
            <a:r>
              <a:rPr lang="en-IN" sz="1600" b="1" dirty="0"/>
              <a:t>1. Data Source</a:t>
            </a:r>
            <a:endParaRPr lang="en-IN" sz="1600" dirty="0"/>
          </a:p>
          <a:p>
            <a:pPr lvl="1"/>
            <a:r>
              <a:rPr lang="en-IN" sz="1200" dirty="0"/>
              <a:t>CSV dataset containing travel booking information</a:t>
            </a:r>
          </a:p>
          <a:p>
            <a:pPr marL="0" indent="0">
              <a:buNone/>
            </a:pPr>
            <a:r>
              <a:rPr lang="en-IN" sz="1600" b="1" dirty="0"/>
              <a:t>2. Data Processing Tool</a:t>
            </a:r>
            <a:endParaRPr lang="en-IN" sz="1600" dirty="0"/>
          </a:p>
          <a:p>
            <a:pPr lvl="1"/>
            <a:r>
              <a:rPr lang="en-IN" sz="1200" dirty="0"/>
              <a:t>Microsoft Power BI Desktop</a:t>
            </a:r>
          </a:p>
          <a:p>
            <a:pPr marL="0" indent="0">
              <a:buNone/>
            </a:pPr>
            <a:r>
              <a:rPr lang="en-IN" sz="1600" b="1" dirty="0"/>
              <a:t>3. Data Fields Used                                                               </a:t>
            </a:r>
            <a:endParaRPr lang="en-IN" sz="1600" dirty="0"/>
          </a:p>
          <a:p>
            <a:pPr lvl="1"/>
            <a:r>
              <a:rPr lang="en-IN" sz="1200" dirty="0"/>
              <a:t>Booking ID</a:t>
            </a:r>
          </a:p>
          <a:p>
            <a:pPr lvl="1"/>
            <a:r>
              <a:rPr lang="en-IN" sz="1200" dirty="0"/>
              <a:t>Booking Date</a:t>
            </a:r>
          </a:p>
          <a:p>
            <a:pPr lvl="1"/>
            <a:r>
              <a:rPr lang="en-IN" sz="1200" dirty="0"/>
              <a:t>Destination</a:t>
            </a:r>
          </a:p>
          <a:p>
            <a:pPr lvl="1"/>
            <a:r>
              <a:rPr lang="en-IN" sz="1200" dirty="0"/>
              <a:t>State</a:t>
            </a:r>
          </a:p>
          <a:p>
            <a:pPr lvl="1"/>
            <a:r>
              <a:rPr lang="en-IN" sz="1200" dirty="0"/>
              <a:t>Airline</a:t>
            </a:r>
          </a:p>
          <a:p>
            <a:pPr lvl="1"/>
            <a:r>
              <a:rPr lang="en-IN" sz="1200" dirty="0"/>
              <a:t>Traveler Type</a:t>
            </a:r>
          </a:p>
          <a:p>
            <a:pPr lvl="1"/>
            <a:r>
              <a:rPr lang="en-IN" sz="1200" dirty="0"/>
              <a:t>Booking Channel</a:t>
            </a:r>
          </a:p>
          <a:p>
            <a:pPr lvl="1"/>
            <a:r>
              <a:rPr lang="en-IN" sz="1200" dirty="0"/>
              <a:t>Booking Value</a:t>
            </a:r>
          </a:p>
          <a:p>
            <a:pPr lvl="1"/>
            <a:r>
              <a:rPr lang="en-IN" sz="1200" dirty="0"/>
              <a:t>Customer Rating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GB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F250E-DA44-D454-630A-CFFCEA8E9A66}"/>
              </a:ext>
            </a:extLst>
          </p:cNvPr>
          <p:cNvSpPr txBox="1"/>
          <p:nvPr/>
        </p:nvSpPr>
        <p:spPr>
          <a:xfrm>
            <a:off x="277586" y="4812110"/>
            <a:ext cx="4191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4. Visualization Components</a:t>
            </a:r>
            <a:endParaRPr lang="en-IN" sz="1600" dirty="0"/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KPI Cards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Line Charts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Bar Charts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Pie Charts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Map Visualization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200" dirty="0"/>
              <a:t>Slicers (Filters)</a:t>
            </a:r>
          </a:p>
        </p:txBody>
      </p:sp>
    </p:spTree>
    <p:extLst>
      <p:ext uri="{BB962C8B-B14F-4D97-AF65-F5344CB8AC3E}">
        <p14:creationId xmlns:p14="http://schemas.microsoft.com/office/powerpoint/2010/main" val="3501125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DBEE6-616C-2711-86DB-C62E77D17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69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Algorithm &amp; Deployment: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07410-DE3D-5F62-F9D7-11EAEA92F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919843"/>
            <a:ext cx="10515600" cy="5736771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marL="0" indent="0">
              <a:buNone/>
            </a:pPr>
            <a:r>
              <a:rPr lang="en-US" sz="2200" dirty="0"/>
              <a:t>The development of the dashboard follows these steps:</a:t>
            </a:r>
          </a:p>
          <a:p>
            <a:pPr marL="0" indent="0">
              <a:buNone/>
            </a:pPr>
            <a:r>
              <a:rPr lang="en-US" sz="2200" b="1" dirty="0"/>
              <a:t>Step 1 – Data Collection</a:t>
            </a:r>
            <a:br>
              <a:rPr lang="en-US" sz="2200" dirty="0"/>
            </a:br>
            <a:r>
              <a:rPr lang="en-US" sz="2200" dirty="0"/>
              <a:t>	</a:t>
            </a:r>
            <a:r>
              <a:rPr lang="en-US" sz="1600" dirty="0"/>
              <a:t>Generate or collect travel booking dataset.</a:t>
            </a:r>
          </a:p>
          <a:p>
            <a:pPr marL="0" indent="0">
              <a:buNone/>
            </a:pPr>
            <a:r>
              <a:rPr lang="en-US" sz="2200" b="1" dirty="0"/>
              <a:t>Step 2 – Data Import</a:t>
            </a:r>
            <a:br>
              <a:rPr lang="en-US" sz="2200" dirty="0"/>
            </a:br>
            <a:r>
              <a:rPr lang="en-US" sz="2200" dirty="0"/>
              <a:t>	</a:t>
            </a:r>
            <a:r>
              <a:rPr lang="en-US" sz="1600" dirty="0"/>
              <a:t>Import the dataset into Power BI.</a:t>
            </a:r>
          </a:p>
          <a:p>
            <a:pPr marL="0" indent="0">
              <a:buNone/>
            </a:pPr>
            <a:r>
              <a:rPr lang="en-US" sz="2200" b="1" dirty="0"/>
              <a:t>Step 3 – Data Cleaning</a:t>
            </a:r>
            <a:br>
              <a:rPr lang="en-US" sz="2200" dirty="0"/>
            </a:br>
            <a:r>
              <a:rPr lang="en-US" sz="2200" dirty="0"/>
              <a:t>	</a:t>
            </a:r>
            <a:r>
              <a:rPr lang="en-US" sz="1600" dirty="0"/>
              <a:t>Use Power Query to remove errors, duplicates, and format data.</a:t>
            </a:r>
          </a:p>
          <a:p>
            <a:pPr marL="0" indent="0">
              <a:buNone/>
            </a:pPr>
            <a:r>
              <a:rPr lang="en-US" sz="2200" b="1" dirty="0"/>
              <a:t>Step 4 – Data Modeling</a:t>
            </a:r>
            <a:br>
              <a:rPr lang="en-US" sz="2200" dirty="0"/>
            </a:br>
            <a:r>
              <a:rPr lang="en-US" sz="1600" dirty="0"/>
              <a:t>Create relationships and calculated measures such as:</a:t>
            </a:r>
          </a:p>
          <a:p>
            <a:pPr lvl="1"/>
            <a:r>
              <a:rPr lang="en-US" sz="1600" dirty="0"/>
              <a:t>Total Bookings</a:t>
            </a:r>
          </a:p>
          <a:p>
            <a:pPr lvl="1"/>
            <a:r>
              <a:rPr lang="en-US" sz="1600" dirty="0"/>
              <a:t>Total Revenue</a:t>
            </a:r>
          </a:p>
          <a:p>
            <a:pPr lvl="1"/>
            <a:r>
              <a:rPr lang="en-US" sz="1600" dirty="0"/>
              <a:t>Average Booking Value</a:t>
            </a:r>
          </a:p>
          <a:p>
            <a:pPr marL="0" indent="0">
              <a:buNone/>
            </a:pPr>
            <a:r>
              <a:rPr lang="en-US" sz="2200" b="1" dirty="0"/>
              <a:t>Step 5 – Visualization Design</a:t>
            </a:r>
            <a:br>
              <a:rPr lang="en-US" sz="2200" dirty="0"/>
            </a:br>
            <a:r>
              <a:rPr lang="en-US" sz="1600" dirty="0"/>
              <a:t>Create dashboard visuals such as:</a:t>
            </a:r>
          </a:p>
          <a:p>
            <a:pPr lvl="1"/>
            <a:r>
              <a:rPr lang="en-US" sz="1600" dirty="0"/>
              <a:t>Booking Trend Chart</a:t>
            </a:r>
          </a:p>
          <a:p>
            <a:pPr lvl="1"/>
            <a:r>
              <a:rPr lang="en-US" sz="1600" dirty="0"/>
              <a:t>Top Destinations Chart</a:t>
            </a:r>
          </a:p>
          <a:p>
            <a:pPr lvl="1"/>
            <a:r>
              <a:rPr lang="en-US" sz="1600" dirty="0"/>
              <a:t>Traveler Demographics Pie Chart</a:t>
            </a:r>
          </a:p>
          <a:p>
            <a:pPr lvl="1"/>
            <a:r>
              <a:rPr lang="en-US" sz="1600" dirty="0"/>
              <a:t>India Booking Heatmap</a:t>
            </a:r>
          </a:p>
          <a:p>
            <a:pPr lvl="1"/>
            <a:r>
              <a:rPr lang="en-US" sz="1600" dirty="0"/>
              <a:t>Top Airlines Chart</a:t>
            </a:r>
          </a:p>
          <a:p>
            <a:pPr marL="0" indent="0">
              <a:buNone/>
            </a:pPr>
            <a:r>
              <a:rPr lang="en-US" sz="2200" b="1" dirty="0"/>
              <a:t>Step 6 – Deployment</a:t>
            </a:r>
            <a:br>
              <a:rPr lang="en-US" sz="2200" dirty="0"/>
            </a:br>
            <a:r>
              <a:rPr lang="en-US" sz="2200" dirty="0"/>
              <a:t>	</a:t>
            </a:r>
            <a:r>
              <a:rPr lang="en-US" sz="1600" dirty="0"/>
              <a:t>Publish the dashboard for users to analyze travel business performance.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GB" sz="1500" dirty="0"/>
          </a:p>
        </p:txBody>
      </p:sp>
    </p:spTree>
    <p:extLst>
      <p:ext uri="{BB962C8B-B14F-4D97-AF65-F5344CB8AC3E}">
        <p14:creationId xmlns:p14="http://schemas.microsoft.com/office/powerpoint/2010/main" val="119908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F756E-D4E1-5A9A-636A-7FA06EC3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552" y="53788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Result:</a:t>
            </a:r>
            <a:endParaRPr lang="en-US" sz="4000" dirty="0">
              <a:solidFill>
                <a:schemeClr val="bg1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7A1F55-81E4-D5E8-B1A0-93A2F97C43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7444" y="1584325"/>
            <a:ext cx="6376987" cy="42513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124919-ED56-CE3F-BB5D-E0F6B090C5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2371" y="700694"/>
            <a:ext cx="10167257" cy="587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42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396BB-D4E8-514D-53F4-27AADA666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4" y="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Conclusion: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89DDB-698E-B624-5621-F9D79482F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789" y="1214176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dirty="0"/>
              <a:t>The MakeMyTrip Travel Analytics Dashboard provides a powerful way to analyze travel booking data.</a:t>
            </a:r>
          </a:p>
          <a:p>
            <a:pPr marL="0" indent="0">
              <a:buNone/>
            </a:pPr>
            <a:r>
              <a:rPr lang="en-US" sz="2400" dirty="0"/>
              <a:t>The system converts large amounts of raw data into clear visual insights.</a:t>
            </a:r>
          </a:p>
          <a:p>
            <a:pPr marL="0" indent="0">
              <a:buNone/>
            </a:pPr>
            <a:r>
              <a:rPr lang="en-US" sz="2400" dirty="0"/>
              <a:t>Benefits of the system include:</a:t>
            </a:r>
          </a:p>
          <a:p>
            <a:pPr lvl="1"/>
            <a:r>
              <a:rPr lang="en-US" sz="2000" dirty="0"/>
              <a:t>Improved business decision making</a:t>
            </a:r>
          </a:p>
          <a:p>
            <a:pPr lvl="1"/>
            <a:r>
              <a:rPr lang="en-US" sz="2000" dirty="0"/>
              <a:t>Easy monitoring of booking trends</a:t>
            </a:r>
          </a:p>
          <a:p>
            <a:pPr lvl="1"/>
            <a:r>
              <a:rPr lang="en-US" sz="2000" dirty="0"/>
              <a:t>Identification of popular destinations and airlines</a:t>
            </a:r>
          </a:p>
          <a:p>
            <a:pPr lvl="1"/>
            <a:r>
              <a:rPr lang="en-US" sz="2000" dirty="0"/>
              <a:t>Better understanding of customer travel behavior</a:t>
            </a:r>
          </a:p>
          <a:p>
            <a:pPr marL="0" indent="0">
              <a:buNone/>
            </a:pPr>
            <a:r>
              <a:rPr lang="en-US" sz="2400" dirty="0"/>
              <a:t>Power BI makes it possible to analyze big datasets efficiently through interactive dashboards.</a:t>
            </a:r>
          </a:p>
          <a:p>
            <a:pPr marL="0" indent="0"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245309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403C0-6D6C-CF0D-D01B-94F3DED1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52" y="67491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Future scope: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C79AB-5BF9-3911-CAE8-5E44B0DF2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071" y="1059506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US" sz="2200" dirty="0">
              <a:latin typeface="Franklin Gothic Book"/>
            </a:endParaRPr>
          </a:p>
          <a:p>
            <a:pPr marL="0" indent="0">
              <a:buNone/>
            </a:pPr>
            <a:r>
              <a:rPr lang="en-US" sz="2400" dirty="0"/>
              <a:t>The system can be further improved by adding the following features:</a:t>
            </a:r>
          </a:p>
          <a:p>
            <a:pPr lvl="1"/>
            <a:r>
              <a:rPr lang="en-US" sz="2000" dirty="0"/>
              <a:t>Integration with </a:t>
            </a:r>
            <a:r>
              <a:rPr lang="en-US" sz="2000" b="1" dirty="0"/>
              <a:t>real-time travel booking systems</a:t>
            </a:r>
            <a:endParaRPr lang="en-US" sz="2000" dirty="0"/>
          </a:p>
          <a:p>
            <a:pPr lvl="1"/>
            <a:r>
              <a:rPr lang="en-US" sz="2000" dirty="0"/>
              <a:t>Implementation of </a:t>
            </a:r>
            <a:r>
              <a:rPr lang="en-US" sz="2000" b="1" dirty="0"/>
              <a:t>machine learning for demand prediction</a:t>
            </a:r>
            <a:endParaRPr lang="en-US" sz="2000" dirty="0"/>
          </a:p>
          <a:p>
            <a:pPr lvl="1"/>
            <a:r>
              <a:rPr lang="en-US" sz="2000" dirty="0"/>
              <a:t>Addition of </a:t>
            </a:r>
            <a:r>
              <a:rPr lang="en-US" sz="2000" b="1" dirty="0"/>
              <a:t>hotel and holiday package analytics</a:t>
            </a:r>
            <a:endParaRPr lang="en-US" sz="2000" dirty="0"/>
          </a:p>
          <a:p>
            <a:pPr lvl="1"/>
            <a:r>
              <a:rPr lang="en-US" sz="2000" dirty="0"/>
              <a:t>Mobile dashboard access through </a:t>
            </a:r>
            <a:r>
              <a:rPr lang="en-US" sz="2000" b="1" dirty="0"/>
              <a:t>Power BI Service</a:t>
            </a:r>
            <a:endParaRPr lang="en-US" sz="2000" dirty="0"/>
          </a:p>
          <a:p>
            <a:pPr lvl="1"/>
            <a:r>
              <a:rPr lang="en-US" sz="2000" dirty="0"/>
              <a:t>Integration with </a:t>
            </a:r>
            <a:r>
              <a:rPr lang="en-US" sz="2000" b="1" dirty="0"/>
              <a:t>cloud platforms like AWS or Azure</a:t>
            </a:r>
            <a:endParaRPr lang="en-US" sz="2000" dirty="0"/>
          </a:p>
          <a:p>
            <a:pPr marL="0" indent="0">
              <a:buNone/>
            </a:pP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744199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16E122-C4E2-8D18-1B83-474848DA3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7A931-24B2-AD91-EC96-DA2E38E31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4" y="56605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solidFill>
                  <a:schemeClr val="bg1"/>
                </a:solidFill>
                <a:latin typeface="Arial"/>
                <a:cs typeface="Arial"/>
              </a:rPr>
              <a:t>References: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19428-FEC2-103A-9057-45E1E5CE2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028" y="1083039"/>
            <a:ext cx="10052096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IN" sz="2400" dirty="0"/>
              <a:t>Microsoft Power BI Documentation</a:t>
            </a:r>
          </a:p>
          <a:p>
            <a:pPr marL="457200" indent="-457200">
              <a:buAutoNum type="arabicPeriod"/>
            </a:pPr>
            <a:r>
              <a:rPr lang="en-US" sz="2400" dirty="0"/>
              <a:t>Microsoft Learn – Power BI Tutorials</a:t>
            </a:r>
          </a:p>
          <a:p>
            <a:pPr marL="457200" indent="-457200">
              <a:buAutoNum type="arabicPeriod"/>
            </a:pPr>
            <a:r>
              <a:rPr lang="en-IN" sz="2400" dirty="0"/>
              <a:t>MakeMyTrip Travel Industry Reports</a:t>
            </a:r>
          </a:p>
          <a:p>
            <a:pPr marL="457200" indent="-457200">
              <a:buAutoNum type="arabicPeriod"/>
            </a:pPr>
            <a:r>
              <a:rPr lang="en-IN" sz="2400" dirty="0"/>
              <a:t>Data Visualization Best Practices</a:t>
            </a:r>
          </a:p>
          <a:p>
            <a:pPr marL="457200" indent="-457200">
              <a:buAutoNum type="arabicPeriod"/>
            </a:pPr>
            <a:r>
              <a:rPr lang="en-US" sz="2400" dirty="0"/>
              <a:t>Online resources for Power BI Dashboard Development</a:t>
            </a:r>
          </a:p>
          <a:p>
            <a:pPr marL="0" indent="0">
              <a:buNone/>
            </a:pPr>
            <a:endParaRPr lang="en-IN" sz="2200" dirty="0">
              <a:latin typeface="Franklin Gothic Book"/>
            </a:endParaRPr>
          </a:p>
          <a:p>
            <a:pPr marL="0" indent="0">
              <a:buNone/>
            </a:pPr>
            <a:r>
              <a:rPr lang="en-IN" sz="2200" dirty="0">
                <a:latin typeface="Franklin Gothic Book"/>
              </a:rPr>
              <a:t>GitHub Link:</a:t>
            </a:r>
            <a:r>
              <a:rPr lang="en-IN" sz="2200" dirty="0">
                <a:solidFill>
                  <a:srgbClr val="0070C0"/>
                </a:solidFill>
                <a:latin typeface="Franklin Gothic Book"/>
              </a:rPr>
              <a:t> </a:t>
            </a:r>
            <a:r>
              <a:rPr lang="en-IN" sz="2000" dirty="0" err="1">
                <a:solidFill>
                  <a:srgbClr val="0070C0"/>
                </a:solidFill>
                <a:latin typeface="Franklin Gothic Book"/>
                <a:hlinkClick r:id="rId2"/>
              </a:rPr>
              <a:t>OnkarLondhe</a:t>
            </a:r>
            <a:r>
              <a:rPr lang="en-IN" sz="2000" dirty="0">
                <a:solidFill>
                  <a:srgbClr val="0070C0"/>
                </a:solidFill>
                <a:latin typeface="Franklin Gothic Book"/>
                <a:hlinkClick r:id="rId2"/>
              </a:rPr>
              <a:t>-MS-Elevate-AICTE-Internship---Power-BI-Project---Feb-2026</a:t>
            </a:r>
            <a:endParaRPr lang="en-IN" sz="2000" u="sng" dirty="0">
              <a:solidFill>
                <a:srgbClr val="0070C0"/>
              </a:solidFill>
              <a:latin typeface="Franklin Gothic Book"/>
            </a:endParaRPr>
          </a:p>
          <a:p>
            <a:pPr marL="0" indent="0">
              <a:buNone/>
            </a:pPr>
            <a:endParaRPr lang="en-IN" sz="2200" u="sng" dirty="0">
              <a:solidFill>
                <a:srgbClr val="0070C0"/>
              </a:solidFill>
              <a:latin typeface="Franklin Gothic Book"/>
            </a:endParaRPr>
          </a:p>
          <a:p>
            <a:pPr marL="0" indent="0">
              <a:buNone/>
            </a:pPr>
            <a:endParaRPr lang="en-IN" sz="2200" dirty="0">
              <a:latin typeface="Franklin Gothic Book"/>
            </a:endParaRPr>
          </a:p>
        </p:txBody>
      </p:sp>
    </p:spTree>
    <p:extLst>
      <p:ext uri="{BB962C8B-B14F-4D97-AF65-F5344CB8AC3E}">
        <p14:creationId xmlns:p14="http://schemas.microsoft.com/office/powerpoint/2010/main" val="5332878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43E5-DB51-E32C-9252-0ED5EF28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E97B5AD-3B10-086C-32EF-8A2EAD5287C2}"/>
              </a:ext>
            </a:extLst>
          </p:cNvPr>
          <p:cNvSpPr txBox="1">
            <a:spLocks/>
          </p:cNvSpPr>
          <p:nvPr/>
        </p:nvSpPr>
        <p:spPr>
          <a:xfrm>
            <a:off x="314324" y="6312352"/>
            <a:ext cx="3724275" cy="295275"/>
          </a:xfrm>
          <a:prstGeom prst="rect">
            <a:avLst/>
          </a:prstGeom>
        </p:spPr>
        <p:txBody>
          <a:bodyPr/>
          <a:lstStyle>
            <a:lvl1pPr marL="228611" indent="-228611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1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25" indent="-190510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38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53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6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8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9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11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930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736" indent="-173736">
              <a:buFont typeface="Arial" pitchFamily="34" charset="0"/>
              <a:buNone/>
            </a:pPr>
            <a:endParaRPr 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FC7433E-E155-E68D-4C00-FCB38967C6F9}"/>
              </a:ext>
            </a:extLst>
          </p:cNvPr>
          <p:cNvSpPr txBox="1">
            <a:spLocks/>
          </p:cNvSpPr>
          <p:nvPr/>
        </p:nvSpPr>
        <p:spPr>
          <a:xfrm>
            <a:off x="3247621" y="3009471"/>
            <a:ext cx="5696757" cy="839057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002060"/>
                </a:solidFill>
                <a:latin typeface="Arial"/>
                <a:cs typeface="Arial"/>
              </a:rPr>
              <a:t>Thank You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46020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OFFICE THEME" val="TmdBxN3j"/>
  <p:tag name="ARTICULATE_PROJECT_OPEN" val="0"/>
  <p:tag name="ARTICULATE_SLIDE_COUNT" val="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634</Words>
  <Application>Microsoft Office PowerPoint</Application>
  <PresentationFormat>Widescreen</PresentationFormat>
  <Paragraphs>106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Franklin Gothic Book</vt:lpstr>
      <vt:lpstr>1_Office Theme</vt:lpstr>
      <vt:lpstr>Custom Design</vt:lpstr>
      <vt:lpstr>PowerPoint Presentation</vt:lpstr>
      <vt:lpstr>OUTLINE:</vt:lpstr>
      <vt:lpstr>Problem Statement:</vt:lpstr>
      <vt:lpstr>Proposed Solution:</vt:lpstr>
      <vt:lpstr>System  Approach:</vt:lpstr>
      <vt:lpstr>Algorithm &amp; Deployment:</vt:lpstr>
      <vt:lpstr>Result:</vt:lpstr>
      <vt:lpstr>Conclusion:</vt:lpstr>
      <vt:lpstr>Future scope:</vt:lpstr>
      <vt:lpstr>References: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Vikrant Nath Nagar</dc:creator>
  <cp:lastModifiedBy>Onkar Londhe</cp:lastModifiedBy>
  <cp:revision>103</cp:revision>
  <dcterms:created xsi:type="dcterms:W3CDTF">2024-05-21T11:55:07Z</dcterms:created>
  <dcterms:modified xsi:type="dcterms:W3CDTF">2026-03-15T12:55:48Z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8775663C-0243-495A-BCAB-F653BDE41EC7</vt:lpwstr>
  </property>
  <property fmtid="{D5CDD505-2E9C-101B-9397-08002B2CF9AE}" pid="3" name="ArticulatePath">
    <vt:lpwstr>https://edunetfoundationorg-my.sharepoint.com/personal/kaisar_edunetfoundation_org/Documents/Beutified ppt/MSITI/Micro Degree/Content/Module 4 Data Science/PPT/1. Introduction to Data Science</vt:lpwstr>
  </property>
</Properties>
</file>